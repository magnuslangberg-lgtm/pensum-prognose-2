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4" autoAdjust="0"/>
    <p:restoredTop sz="94610"/>
  </p:normalViewPr>
  <p:slideViewPr>
    <p:cSldViewPr snapToGrid="0" snapToObjects="1">
      <p:cViewPr>
        <p:scale>
          <a:sx n="77" d="100"/>
          <a:sy n="77" d="100"/>
        </p:scale>
        <p:origin x="80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Fordeling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8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9FA-4160-B49D-BE620320F319}"/>
              </c:ext>
            </c:extLst>
          </c:dPt>
          <c:dPt>
            <c:idx val="1"/>
            <c:bubble3D val="0"/>
            <c:spPr>
              <a:solidFill>
                <a:srgbClr val="C496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9FA-4160-B49D-BE620320F319}"/>
              </c:ext>
            </c:extLst>
          </c:dPt>
          <c:dPt>
            <c:idx val="2"/>
            <c:bubble3D val="0"/>
            <c:spPr>
              <a:solidFill>
                <a:srgbClr val="6B9D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FA-4160-B49D-BE620320F319}"/>
              </c:ext>
            </c:extLst>
          </c:dPt>
          <c:dPt>
            <c:idx val="3"/>
            <c:bubble3D val="0"/>
            <c:spPr>
              <a:solidFill>
                <a:srgbClr val="2D6A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FA-4160-B49D-BE620320F319}"/>
              </c:ext>
            </c:extLst>
          </c:dPt>
          <c:cat>
            <c:strRef>
              <c:f>Sheet1!$A$2:$A$5</c:f>
              <c:strCache>
                <c:ptCount val="4"/>
                <c:pt idx="0">
                  <c:v>Pensum Global Core Active</c:v>
                </c:pt>
                <c:pt idx="1">
                  <c:v>Pensum Global Høyrente</c:v>
                </c:pt>
                <c:pt idx="2">
                  <c:v>Pensum Global Edge</c:v>
                </c:pt>
                <c:pt idx="3">
                  <c:v>Pensum Norge 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9FA-4160-B49D-BE620320F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Pessimistisk</c:v>
                </c:pt>
              </c:strCache>
            </c:strRef>
          </c:tx>
          <c:spPr>
            <a:ln w="25400" cap="flat">
              <a:solidFill>
                <a:srgbClr val="C4967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10000000</c:v>
                </c:pt>
                <c:pt idx="1">
                  <c:v>9800000</c:v>
                </c:pt>
                <c:pt idx="2">
                  <c:v>9604000</c:v>
                </c:pt>
                <c:pt idx="3">
                  <c:v>9411920</c:v>
                </c:pt>
                <c:pt idx="4">
                  <c:v>9223681.5999999996</c:v>
                </c:pt>
                <c:pt idx="5">
                  <c:v>9039207.9680000003</c:v>
                </c:pt>
                <c:pt idx="6">
                  <c:v>8858423.8086399995</c:v>
                </c:pt>
                <c:pt idx="7">
                  <c:v>8681255.3324672002</c:v>
                </c:pt>
                <c:pt idx="8">
                  <c:v>8507630.2258178554</c:v>
                </c:pt>
                <c:pt idx="9">
                  <c:v>8337477.6213014983</c:v>
                </c:pt>
                <c:pt idx="10">
                  <c:v>8170728.0688754683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5D8-41CC-92E0-8AB0EC01D5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Forventet</c:v>
                </c:pt>
              </c:strCache>
            </c:strRef>
          </c:tx>
          <c:spPr>
            <a:ln w="25400" cap="flat">
              <a:solidFill>
                <a:srgbClr val="6B9DB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10000000</c:v>
                </c:pt>
                <c:pt idx="1">
                  <c:v>10915000</c:v>
                </c:pt>
                <c:pt idx="2">
                  <c:v>11920375</c:v>
                </c:pt>
                <c:pt idx="3">
                  <c:v>13025733.625000002</c:v>
                </c:pt>
                <c:pt idx="4">
                  <c:v>14241779.291875003</c:v>
                </c:pt>
                <c:pt idx="5">
                  <c:v>15580442.960415628</c:v>
                </c:pt>
                <c:pt idx="6">
                  <c:v>17055032.858259302</c:v>
                </c:pt>
                <c:pt idx="7">
                  <c:v>18680403.44497535</c:v>
                </c:pt>
                <c:pt idx="8">
                  <c:v>20473146.193012606</c:v>
                </c:pt>
                <c:pt idx="9">
                  <c:v>22451805.11982578</c:v>
                </c:pt>
                <c:pt idx="10">
                  <c:v>24637120.412621293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5D8-41CC-92E0-8AB0EC01D5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Optimistisk</c:v>
                </c:pt>
              </c:strCache>
            </c:strRef>
          </c:tx>
          <c:spPr>
            <a:ln w="25400" cap="flat">
              <a:solidFill>
                <a:srgbClr val="2D6A4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10000000</c:v>
                </c:pt>
                <c:pt idx="1">
                  <c:v>11200000.000000002</c:v>
                </c:pt>
                <c:pt idx="2">
                  <c:v>12544000.000000004</c:v>
                </c:pt>
                <c:pt idx="3">
                  <c:v>14049280.000000006</c:v>
                </c:pt>
                <c:pt idx="4">
                  <c:v>15735193.600000007</c:v>
                </c:pt>
                <c:pt idx="5">
                  <c:v>17623416.83200001</c:v>
                </c:pt>
                <c:pt idx="6">
                  <c:v>19738226.851840012</c:v>
                </c:pt>
                <c:pt idx="7">
                  <c:v>22106814.074060816</c:v>
                </c:pt>
                <c:pt idx="8">
                  <c:v>24759631.762948118</c:v>
                </c:pt>
                <c:pt idx="9">
                  <c:v>27730787.574501894</c:v>
                </c:pt>
                <c:pt idx="10">
                  <c:v>31058482.083442125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5D8-41CC-92E0-8AB0EC01D5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Merriweather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Merriweather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Merriweather Sans"/>
              <a:cs typeface="Merriweather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Fordeling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28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461-4D70-9868-AAF353A59F42}"/>
              </c:ext>
            </c:extLst>
          </c:dPt>
          <c:dPt>
            <c:idx val="1"/>
            <c:bubble3D val="0"/>
            <c:spPr>
              <a:solidFill>
                <a:srgbClr val="C496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61-4D70-9868-AAF353A59F42}"/>
              </c:ext>
            </c:extLst>
          </c:dPt>
          <c:cat>
            <c:strRef>
              <c:f>Sheet1!$A$2:$A$3</c:f>
              <c:strCache>
                <c:ptCount val="2"/>
                <c:pt idx="0">
                  <c:v>Aksjer</c:v>
                </c:pt>
                <c:pt idx="1">
                  <c:v>Renter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61-4D70-9868-AAF353A59F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840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1097280" y="914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Investeringsforslag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691640"/>
            <a:ext cx="2743200" cy="0"/>
          </a:xfrm>
          <a:prstGeom prst="line">
            <a:avLst/>
          </a:prstGeom>
          <a:noFill/>
          <a:ln w="12700">
            <a:solidFill>
              <a:srgbClr val="6B9DB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Utarbeidet for Investor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  |  2026-03-15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0" y="9144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7388352" y="960120"/>
            <a:ext cx="1865376" cy="36576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7424928" y="1060704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Investerbar kapital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24928" y="124358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10.0 MNOK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09760" y="91440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9582912" y="960120"/>
            <a:ext cx="1865376" cy="36576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9619488" y="1060704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Forventet avkastning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619488" y="124358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9.6%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0" y="19659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7388352" y="2011680"/>
            <a:ext cx="1865376" cy="36576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7424928" y="2112264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Forventet yield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24928" y="229514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3.5%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09760" y="19659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9582912" y="2011680"/>
            <a:ext cx="1865376" cy="36576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Text 20"/>
          <p:cNvSpPr/>
          <p:nvPr/>
        </p:nvSpPr>
        <p:spPr>
          <a:xfrm>
            <a:off x="9619488" y="2112264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Aksjer / Renter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19488" y="229514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70% / 30%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0" y="30175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7388352" y="3063240"/>
            <a:ext cx="1865376" cy="36576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" name="Text 24"/>
          <p:cNvSpPr/>
          <p:nvPr/>
        </p:nvSpPr>
        <p:spPr>
          <a:xfrm>
            <a:off x="7424928" y="3163824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Sluttverdi (base)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24928" y="334670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24.6 MNOK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509760" y="30175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9582912" y="3063240"/>
            <a:ext cx="1865376" cy="36576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0" name="Text 28"/>
          <p:cNvSpPr/>
          <p:nvPr/>
        </p:nvSpPr>
        <p:spPr>
          <a:xfrm>
            <a:off x="9619488" y="3163824"/>
            <a:ext cx="1792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Horisont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19488" y="334670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10 år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97280" y="530352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E8F0F4"/>
          </a:solidFill>
          <a:ln w="12700">
            <a:solidFill>
              <a:srgbClr val="6B9DB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3" name="Text 31"/>
          <p:cNvSpPr/>
          <p:nvPr/>
        </p:nvSpPr>
        <p:spPr>
          <a:xfrm>
            <a:off x="1097280" y="5303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Likviditet: Høy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0" y="5303520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E8F0F4"/>
          </a:solidFill>
          <a:ln w="12700">
            <a:solidFill>
              <a:srgbClr val="6B9DB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5" name="Text 33"/>
          <p:cNvSpPr/>
          <p:nvPr/>
        </p:nvSpPr>
        <p:spPr>
          <a:xfrm>
            <a:off x="3840480" y="5303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Risikoprofil: Moderat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7" name="Text 35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Utgangspunkt og investeringsmandat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Kundens mål, horisont og risikovillighet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320040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Samlet formue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10.0 MNOK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73152" cy="320040"/>
          </a:xfrm>
          <a:prstGeom prst="rect">
            <a:avLst/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Investerbar kapital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10.0 MNOK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73152" cy="320040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91440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Risikoprofil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Moderat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73152" cy="320040"/>
          </a:xfrm>
          <a:prstGeom prst="rect">
            <a:avLst/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91440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Horisont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10 år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73152" cy="320040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9" name="Text 17"/>
          <p:cNvSpPr/>
          <p:nvPr/>
        </p:nvSpPr>
        <p:spPr>
          <a:xfrm>
            <a:off x="91440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Forventet avkastning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9.6%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73152" cy="320040"/>
          </a:xfrm>
          <a:prstGeom prst="rect">
            <a:avLst/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Text 20"/>
          <p:cNvSpPr/>
          <p:nvPr/>
        </p:nvSpPr>
        <p:spPr>
          <a:xfrm>
            <a:off x="91440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Likviditetsbehov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Lavt – hovedsakelig likvide produkter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128016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Text 23"/>
          <p:cNvSpPr/>
          <p:nvPr/>
        </p:nvSpPr>
        <p:spPr>
          <a:xfrm>
            <a:off x="6720840" y="137160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Rådgivers vurdering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1664208"/>
            <a:ext cx="22219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Målsetting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805672" y="1664208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Langsiktig kapitalvekst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20840" y="1993392"/>
            <a:ext cx="22219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Profil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805672" y="1993392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Moderat – tilpasset investors preferanser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322576"/>
            <a:ext cx="22219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Allokering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805672" y="2322576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70% aksjer, 30% renter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20840" y="2651760"/>
            <a:ext cx="22219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Horisont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805672" y="2651760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10 år med årlig rapportering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20840" y="2980944"/>
            <a:ext cx="22219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Tilnærming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805672" y="2980944"/>
            <a:ext cx="2468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Diversifisert, aktiv forvaltning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Eksisterende formuesstruktur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470916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Aksjer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108960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kr 1 000 000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2960" y="49651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Aksjefond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108960" y="4965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kr 3 000 000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2960" y="52212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Renter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108960" y="52212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kr 2 000 000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22960" y="547725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Kontanter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108960" y="54772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kr 2 000 000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2960" y="57332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Private Equity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108960" y="57332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kr 1 000 000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22960" y="59893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Eiendom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108960" y="59893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kr 1 000 000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0" name="Text 48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Anbefalt porteføljesammensetning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Allokering per produkt med rolle og nøkkeltall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234440"/>
          <a:ext cx="23774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200400" y="1408176"/>
            <a:ext cx="118872" cy="118872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5"/>
          <p:cNvSpPr/>
          <p:nvPr/>
        </p:nvSpPr>
        <p:spPr>
          <a:xfrm>
            <a:off x="3383280" y="1371600"/>
            <a:ext cx="2377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Global Core Active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50992" y="1371600"/>
            <a:ext cx="594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30.0%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00400" y="1664208"/>
            <a:ext cx="118872" cy="118872"/>
          </a:xfrm>
          <a:prstGeom prst="ellipse">
            <a:avLst/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3383280" y="1627632"/>
            <a:ext cx="2377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Global Høyrente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650992" y="1627632"/>
            <a:ext cx="594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30.0%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0" y="1920240"/>
            <a:ext cx="118872" cy="118872"/>
          </a:xfrm>
          <a:prstGeom prst="ellipse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3383280" y="1883664"/>
            <a:ext cx="2377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Global Edge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50992" y="1883664"/>
            <a:ext cx="594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20.0%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00400" y="2176272"/>
            <a:ext cx="118872" cy="118872"/>
          </a:xfrm>
          <a:prstGeom prst="ellipse">
            <a:avLst/>
          </a:prstGeom>
          <a:solidFill>
            <a:srgbClr val="2D6A6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4"/>
          <p:cNvSpPr/>
          <p:nvPr/>
        </p:nvSpPr>
        <p:spPr>
          <a:xfrm>
            <a:off x="3383280" y="2139696"/>
            <a:ext cx="23774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Norge A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50992" y="2139696"/>
            <a:ext cx="594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20.0%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188720"/>
          <a:ext cx="576072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Produkt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Vekt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Beløp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Rolle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Forv. avk.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Risiko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Pensum Global Core Active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30.0%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kr 3 000 000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Kjernebyggestein i aksjedelen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10.0%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Verdien vil svinge med globale aksjemarkeder og valutautvikling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Pensum Global Høyrente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30.0%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kr 3 000 000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Rentedel med fokus på løpende avkastning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7.5%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Kredittrisiko og spreadutvidelser kan gi kursfall i stressperioder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Pensum Global Edge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20.0%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kr 2 000 000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Satellitt for meravkastning i aksjedelen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10.5%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Høyere stil- og faktoravvik enn brede globale indekser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Pensum Norge A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20.0%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kr 2 000 000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Hjemmemarkeds- og stock-picking-eksponering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11.0%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Mer konsentrert marked og høyere sektoravhengighet enn global eksponering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640080" y="5212080"/>
            <a:ext cx="2617470" cy="685800"/>
          </a:xfrm>
          <a:prstGeom prst="roundRect">
            <a:avLst>
              <a:gd name="adj" fmla="val 8000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1" name="Shape 17"/>
          <p:cNvSpPr/>
          <p:nvPr/>
        </p:nvSpPr>
        <p:spPr>
          <a:xfrm>
            <a:off x="713232" y="5257800"/>
            <a:ext cx="2471166" cy="36576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Text 18"/>
          <p:cNvSpPr/>
          <p:nvPr/>
        </p:nvSpPr>
        <p:spPr>
          <a:xfrm>
            <a:off x="749808" y="5358384"/>
            <a:ext cx="2398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Antall produkter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749808" y="5541264"/>
            <a:ext cx="23980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3394710" y="5212080"/>
            <a:ext cx="2617470" cy="685800"/>
          </a:xfrm>
          <a:prstGeom prst="roundRect">
            <a:avLst>
              <a:gd name="adj" fmla="val 8000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5" name="Shape 21"/>
          <p:cNvSpPr/>
          <p:nvPr/>
        </p:nvSpPr>
        <p:spPr>
          <a:xfrm>
            <a:off x="3467862" y="5257800"/>
            <a:ext cx="2471166" cy="36576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" name="Text 22"/>
          <p:cNvSpPr/>
          <p:nvPr/>
        </p:nvSpPr>
        <p:spPr>
          <a:xfrm>
            <a:off x="3504438" y="5358384"/>
            <a:ext cx="2398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Forventet avkastning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504438" y="5541264"/>
            <a:ext cx="23980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9.6%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6149340" y="5212080"/>
            <a:ext cx="2617470" cy="685800"/>
          </a:xfrm>
          <a:prstGeom prst="roundRect">
            <a:avLst>
              <a:gd name="adj" fmla="val 8000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9" name="Shape 25"/>
          <p:cNvSpPr/>
          <p:nvPr/>
        </p:nvSpPr>
        <p:spPr>
          <a:xfrm>
            <a:off x="6222492" y="5257800"/>
            <a:ext cx="2471166" cy="36576"/>
          </a:xfrm>
          <a:prstGeom prst="rect">
            <a:avLst/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0" name="Text 26"/>
          <p:cNvSpPr/>
          <p:nvPr/>
        </p:nvSpPr>
        <p:spPr>
          <a:xfrm>
            <a:off x="6259068" y="5358384"/>
            <a:ext cx="2398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Forventet yield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259068" y="5541264"/>
            <a:ext cx="23980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3.5%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8903970" y="5212080"/>
            <a:ext cx="2617470" cy="685800"/>
          </a:xfrm>
          <a:prstGeom prst="roundRect">
            <a:avLst>
              <a:gd name="adj" fmla="val 8000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33" name="Shape 29"/>
          <p:cNvSpPr/>
          <p:nvPr/>
        </p:nvSpPr>
        <p:spPr>
          <a:xfrm>
            <a:off x="8977122" y="5257800"/>
            <a:ext cx="2471166" cy="36576"/>
          </a:xfrm>
          <a:prstGeom prst="rect">
            <a:avLst/>
          </a:prstGeom>
          <a:solidFill>
            <a:srgbClr val="2D6A6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4" name="Text 30"/>
          <p:cNvSpPr/>
          <p:nvPr/>
        </p:nvSpPr>
        <p:spPr>
          <a:xfrm>
            <a:off x="9013698" y="5358384"/>
            <a:ext cx="2398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Sluttverdi (base)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9013698" y="5541264"/>
            <a:ext cx="23980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24.6 MNOK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7" name="Text 33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Hvordan porteføljen er bygget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Kjerne, stabilisator og satellitter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881360" cy="347472"/>
          </a:xfrm>
          <a:prstGeom prst="roundRect">
            <a:avLst>
              <a:gd name="adj" fmla="val 15789"/>
            </a:avLst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Kjerne  •  Hovedmotor – global og norsk aksjeeksponering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201168" cy="201168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1143000" y="1645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Global Core Active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0" y="16459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30.0%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66360" y="1645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kr 3 000 000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0" y="1645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Kjernebyggestein i aksjedelen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2084832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822960" y="2176272"/>
            <a:ext cx="201168" cy="201168"/>
          </a:xfrm>
          <a:prstGeom prst="ellipse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Global Edge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0" y="208483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20.0%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66360" y="20848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kr 2 000 000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20848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Satellitt for meravkastning i aksjedelen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2660904"/>
            <a:ext cx="10881360" cy="347472"/>
          </a:xfrm>
          <a:prstGeom prst="roundRect">
            <a:avLst>
              <a:gd name="adj" fmla="val 15789"/>
            </a:avLst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Text 19"/>
          <p:cNvSpPr/>
          <p:nvPr/>
        </p:nvSpPr>
        <p:spPr>
          <a:xfrm>
            <a:off x="822960" y="2660904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Stabilisator / Rentedel  •  Kontantstrøm og lavere volatilitet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072384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FDF6F2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822960" y="3163824"/>
            <a:ext cx="201168" cy="201168"/>
          </a:xfrm>
          <a:prstGeom prst="ellipse">
            <a:avLst/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Text 22"/>
          <p:cNvSpPr/>
          <p:nvPr/>
        </p:nvSpPr>
        <p:spPr>
          <a:xfrm>
            <a:off x="1143000" y="30723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Global Høyrente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0" y="3072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30.0%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66360" y="3072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kr 3 000 000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307238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Rentedel med fokus på løpende avkastning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3648456"/>
            <a:ext cx="10881360" cy="347472"/>
          </a:xfrm>
          <a:prstGeom prst="roundRect">
            <a:avLst>
              <a:gd name="adj" fmla="val 15789"/>
            </a:avLst>
          </a:prstGeom>
          <a:solidFill>
            <a:srgbClr val="2D6A6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9" name="Text 27"/>
          <p:cNvSpPr/>
          <p:nvPr/>
        </p:nvSpPr>
        <p:spPr>
          <a:xfrm>
            <a:off x="822960" y="3648456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Satellitter  •  Tematisk og spisset eksponering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059936"/>
            <a:ext cx="10881360" cy="384048"/>
          </a:xfrm>
          <a:prstGeom prst="roundRect">
            <a:avLst>
              <a:gd name="adj" fmla="val 9524"/>
            </a:avLst>
          </a:prstGeom>
          <a:solidFill>
            <a:srgbClr val="E8F5F0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1" name="Shape 29"/>
          <p:cNvSpPr/>
          <p:nvPr/>
        </p:nvSpPr>
        <p:spPr>
          <a:xfrm>
            <a:off x="822960" y="4151376"/>
            <a:ext cx="201168" cy="201168"/>
          </a:xfrm>
          <a:prstGeom prst="ellipse">
            <a:avLst/>
          </a:prstGeom>
          <a:solidFill>
            <a:srgbClr val="2D6A6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2" name="Text 30"/>
          <p:cNvSpPr/>
          <p:nvPr/>
        </p:nvSpPr>
        <p:spPr>
          <a:xfrm>
            <a:off x="1143000" y="40599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Norge 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40599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20.0%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66360" y="40599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kr 2 000 000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40599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Hjemmemarkeds- og stock-picking-eksponering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7" name="Text 35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Scenarioanalyse og forventet utvikling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Lav, base og høy – sluttverdi og CAGR per scenario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535680" cy="868680"/>
          </a:xfrm>
          <a:prstGeom prst="roundRect">
            <a:avLst>
              <a:gd name="adj" fmla="val 6316"/>
            </a:avLst>
          </a:prstGeom>
          <a:solidFill>
            <a:srgbClr val="FDF2F2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3389376" cy="36576"/>
          </a:xfrm>
          <a:prstGeom prst="rect">
            <a:avLst/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749808" y="1335024"/>
            <a:ext cx="3316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Pessimistisk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517904"/>
            <a:ext cx="3316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8.2 MNOK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12920" y="1188720"/>
            <a:ext cx="3535680" cy="868680"/>
          </a:xfrm>
          <a:prstGeom prst="roundRect">
            <a:avLst>
              <a:gd name="adj" fmla="val 6316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1" name="Shape 9"/>
          <p:cNvSpPr/>
          <p:nvPr/>
        </p:nvSpPr>
        <p:spPr>
          <a:xfrm>
            <a:off x="4386072" y="1234440"/>
            <a:ext cx="3389376" cy="36576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10"/>
          <p:cNvSpPr/>
          <p:nvPr/>
        </p:nvSpPr>
        <p:spPr>
          <a:xfrm>
            <a:off x="4422648" y="1335024"/>
            <a:ext cx="3316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Base (forventet)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22648" y="1517904"/>
            <a:ext cx="3316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24.6 MNOK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985760" y="1188720"/>
            <a:ext cx="3535680" cy="868680"/>
          </a:xfrm>
          <a:prstGeom prst="roundRect">
            <a:avLst>
              <a:gd name="adj" fmla="val 6316"/>
            </a:avLst>
          </a:prstGeom>
          <a:solidFill>
            <a:srgbClr val="E8F5F0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5" name="Shape 13"/>
          <p:cNvSpPr/>
          <p:nvPr/>
        </p:nvSpPr>
        <p:spPr>
          <a:xfrm>
            <a:off x="8058912" y="1234440"/>
            <a:ext cx="3389376" cy="36576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8095488" y="1335024"/>
            <a:ext cx="3316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Optimistisk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95488" y="1517904"/>
            <a:ext cx="3316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31.1 MNOK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2194560"/>
            <a:ext cx="3535680" cy="640080"/>
          </a:xfrm>
          <a:prstGeom prst="roundRect">
            <a:avLst>
              <a:gd name="adj" fmla="val 8571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713232" y="2240280"/>
            <a:ext cx="3389376" cy="36576"/>
          </a:xfrm>
          <a:prstGeom prst="rect">
            <a:avLst/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18"/>
          <p:cNvSpPr/>
          <p:nvPr/>
        </p:nvSpPr>
        <p:spPr>
          <a:xfrm>
            <a:off x="749808" y="2340864"/>
            <a:ext cx="3316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CAGR pessimistisk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2523744"/>
            <a:ext cx="3316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-2.0%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312920" y="2194560"/>
            <a:ext cx="3535680" cy="640080"/>
          </a:xfrm>
          <a:prstGeom prst="roundRect">
            <a:avLst>
              <a:gd name="adj" fmla="val 8571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3" name="Shape 21"/>
          <p:cNvSpPr/>
          <p:nvPr/>
        </p:nvSpPr>
        <p:spPr>
          <a:xfrm>
            <a:off x="4386072" y="2240280"/>
            <a:ext cx="3389376" cy="36576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Text 22"/>
          <p:cNvSpPr/>
          <p:nvPr/>
        </p:nvSpPr>
        <p:spPr>
          <a:xfrm>
            <a:off x="4422648" y="2340864"/>
            <a:ext cx="3316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CAGR base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22648" y="2523744"/>
            <a:ext cx="3316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9.4%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985760" y="2194560"/>
            <a:ext cx="3535680" cy="640080"/>
          </a:xfrm>
          <a:prstGeom prst="roundRect">
            <a:avLst>
              <a:gd name="adj" fmla="val 8571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7" name="Shape 25"/>
          <p:cNvSpPr/>
          <p:nvPr/>
        </p:nvSpPr>
        <p:spPr>
          <a:xfrm>
            <a:off x="8058912" y="2240280"/>
            <a:ext cx="3389376" cy="36576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8" name="Text 26"/>
          <p:cNvSpPr/>
          <p:nvPr/>
        </p:nvSpPr>
        <p:spPr>
          <a:xfrm>
            <a:off x="8095488" y="2340864"/>
            <a:ext cx="3316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CAGR optimistisk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95488" y="2523744"/>
            <a:ext cx="3316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12.0%</a:t>
            </a:r>
            <a:endParaRPr lang="en-US" sz="1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640080" y="3017520"/>
          <a:ext cx="68580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7863840" y="301752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2" name="Text 29"/>
          <p:cNvSpPr/>
          <p:nvPr/>
        </p:nvSpPr>
        <p:spPr>
          <a:xfrm>
            <a:off x="8001000" y="31089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Hva driver forskjellene?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01000" y="3401568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Pess. avkastning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9509760" y="3401568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-2.0%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001000" y="3730752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Base avkastning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9509760" y="3730752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9.6%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001000" y="4059936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Opt. avkastning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9509760" y="4059936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12.0%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001000" y="438912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Horisont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9509760" y="4389120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10 år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01000" y="4718304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Startkapital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9509760" y="47183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10.0 MNOK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4" name="Text 41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Historikk og risikobilde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Historisk utvikling, volatilitet og drawdown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Produkt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2026 YTD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2025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2024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2023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2022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Årl. 3 år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Risiko 3 år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Global Core Active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–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8.0%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31.8%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25.6%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-7.2%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21.3%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10.4%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Global Høyrente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–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6.2%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6.5%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7.9%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-5.1%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6.9%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0.7%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Global Edge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-2.1%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14.1%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26.8%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23.6%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-6.3%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21.3%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5.4%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Norge A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–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21.5%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12.5%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13.2%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5.0%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15.6%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4.5%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Porteføljen (vektet)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–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11.4%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19.4%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17.4%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-4.0%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11.0%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9.2%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640080" y="5029200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8" name="Shape 5"/>
          <p:cNvSpPr/>
          <p:nvPr/>
        </p:nvSpPr>
        <p:spPr>
          <a:xfrm>
            <a:off x="713232" y="5074920"/>
            <a:ext cx="1920240" cy="36576"/>
          </a:xfrm>
          <a:prstGeom prst="rect">
            <a:avLst/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Text 6"/>
          <p:cNvSpPr/>
          <p:nvPr/>
        </p:nvSpPr>
        <p:spPr>
          <a:xfrm>
            <a:off x="749808" y="517550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Annualisert avkastning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49808" y="535838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11.0%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843784" y="5029200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2" name="Shape 9"/>
          <p:cNvSpPr/>
          <p:nvPr/>
        </p:nvSpPr>
        <p:spPr>
          <a:xfrm>
            <a:off x="2916936" y="5074920"/>
            <a:ext cx="1920240" cy="36576"/>
          </a:xfrm>
          <a:prstGeom prst="rect">
            <a:avLst/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2953512" y="517550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Volatilitet (ann.)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953512" y="535838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9.2%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047488" y="5029200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16" name="Shape 13"/>
          <p:cNvSpPr/>
          <p:nvPr/>
        </p:nvSpPr>
        <p:spPr>
          <a:xfrm>
            <a:off x="5120640" y="5074920"/>
            <a:ext cx="1920240" cy="36576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Text 14"/>
          <p:cNvSpPr/>
          <p:nvPr/>
        </p:nvSpPr>
        <p:spPr>
          <a:xfrm>
            <a:off x="5157216" y="517550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Maks drawdown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57216" y="535838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-4.0%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251192" y="5029200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0" name="Shape 17"/>
          <p:cNvSpPr/>
          <p:nvPr/>
        </p:nvSpPr>
        <p:spPr>
          <a:xfrm>
            <a:off x="7324344" y="5074920"/>
            <a:ext cx="1920240" cy="36576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Text 18"/>
          <p:cNvSpPr/>
          <p:nvPr/>
        </p:nvSpPr>
        <p:spPr>
          <a:xfrm>
            <a:off x="7360920" y="517550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Beste år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360920" y="535838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19.4%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454896" y="5029200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b-NO"/>
          </a:p>
        </p:txBody>
      </p:sp>
      <p:sp>
        <p:nvSpPr>
          <p:cNvPr id="24" name="Shape 21"/>
          <p:cNvSpPr/>
          <p:nvPr/>
        </p:nvSpPr>
        <p:spPr>
          <a:xfrm>
            <a:off x="9528048" y="5074920"/>
            <a:ext cx="1920240" cy="36576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5" name="Text 22"/>
          <p:cNvSpPr/>
          <p:nvPr/>
        </p:nvSpPr>
        <p:spPr>
          <a:xfrm>
            <a:off x="9564624" y="5175504"/>
            <a:ext cx="18470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Svakeste år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9564624" y="535838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-4.0%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8" name="Text 25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Hvorfor sammensetningen kan fungere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Regioner, sektorer og porteføljelogikk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Regioneksponering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United States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76272" y="1536192"/>
            <a:ext cx="349300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2176272" y="1536192"/>
            <a:ext cx="3493008" cy="182880"/>
          </a:xfrm>
          <a:prstGeom prst="roundRect">
            <a:avLst>
              <a:gd name="adj" fmla="val 20000"/>
            </a:avLst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5074920" y="150876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24.7%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8013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Norway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76272" y="1828800"/>
            <a:ext cx="349300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Shape 11"/>
          <p:cNvSpPr/>
          <p:nvPr/>
        </p:nvSpPr>
        <p:spPr>
          <a:xfrm>
            <a:off x="2176272" y="1828800"/>
            <a:ext cx="2573795" cy="182880"/>
          </a:xfrm>
          <a:prstGeom prst="roundRect">
            <a:avLst>
              <a:gd name="adj" fmla="val 20000"/>
            </a:avLst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5074920" y="180136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18.2%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209397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Other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76272" y="2121408"/>
            <a:ext cx="349300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2176272" y="2121408"/>
            <a:ext cx="1385890" cy="182880"/>
          </a:xfrm>
          <a:prstGeom prst="roundRect">
            <a:avLst>
              <a:gd name="adj" fmla="val 20000"/>
            </a:avLst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5074920" y="209397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9.8%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238658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Japan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76272" y="2414016"/>
            <a:ext cx="349300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2176272" y="2414016"/>
            <a:ext cx="410110" cy="182880"/>
          </a:xfrm>
          <a:prstGeom prst="roundRect">
            <a:avLst>
              <a:gd name="adj" fmla="val 20000"/>
            </a:avLst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Text 20"/>
          <p:cNvSpPr/>
          <p:nvPr/>
        </p:nvSpPr>
        <p:spPr>
          <a:xfrm>
            <a:off x="5074920" y="238658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2.9%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267919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United Kingdom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76272" y="2706624"/>
            <a:ext cx="349300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5" name="Shape 23"/>
          <p:cNvSpPr/>
          <p:nvPr/>
        </p:nvSpPr>
        <p:spPr>
          <a:xfrm>
            <a:off x="2176272" y="2706624"/>
            <a:ext cx="381827" cy="182880"/>
          </a:xfrm>
          <a:prstGeom prst="roundRect">
            <a:avLst>
              <a:gd name="adj" fmla="val 20000"/>
            </a:avLst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6" name="Text 24"/>
          <p:cNvSpPr/>
          <p:nvPr/>
        </p:nvSpPr>
        <p:spPr>
          <a:xfrm>
            <a:off x="5074920" y="267919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2.7%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29718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China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76272" y="2999232"/>
            <a:ext cx="349300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2176272" y="2999232"/>
            <a:ext cx="282835" cy="182880"/>
          </a:xfrm>
          <a:prstGeom prst="roundRect">
            <a:avLst>
              <a:gd name="adj" fmla="val 20000"/>
            </a:avLst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0" name="Text 28"/>
          <p:cNvSpPr/>
          <p:nvPr/>
        </p:nvSpPr>
        <p:spPr>
          <a:xfrm>
            <a:off x="5074920" y="297180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2.0%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" y="326440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Sweden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176272" y="3291840"/>
            <a:ext cx="349300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3" name="Shape 31"/>
          <p:cNvSpPr/>
          <p:nvPr/>
        </p:nvSpPr>
        <p:spPr>
          <a:xfrm>
            <a:off x="2176272" y="3291840"/>
            <a:ext cx="268693" cy="182880"/>
          </a:xfrm>
          <a:prstGeom prst="roundRect">
            <a:avLst>
              <a:gd name="adj" fmla="val 20000"/>
            </a:avLst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4" name="Text 32"/>
          <p:cNvSpPr/>
          <p:nvPr/>
        </p:nvSpPr>
        <p:spPr>
          <a:xfrm>
            <a:off x="5074920" y="32644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1.9%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080" y="35570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Taiwan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176272" y="3584448"/>
            <a:ext cx="349300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7" name="Shape 35"/>
          <p:cNvSpPr/>
          <p:nvPr/>
        </p:nvSpPr>
        <p:spPr>
          <a:xfrm>
            <a:off x="2176272" y="3584448"/>
            <a:ext cx="212126" cy="182880"/>
          </a:xfrm>
          <a:prstGeom prst="roundRect">
            <a:avLst>
              <a:gd name="adj" fmla="val 20000"/>
            </a:avLst>
          </a:prstGeom>
          <a:solidFill>
            <a:srgbClr val="6B9DB8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8" name="Text 36"/>
          <p:cNvSpPr/>
          <p:nvPr/>
        </p:nvSpPr>
        <p:spPr>
          <a:xfrm>
            <a:off x="5074920" y="355701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1.5%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0" y="11887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Sektoreksponering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1508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Financial Services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119872" y="1536192"/>
            <a:ext cx="340156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2" name="Shape 40"/>
          <p:cNvSpPr/>
          <p:nvPr/>
        </p:nvSpPr>
        <p:spPr>
          <a:xfrm>
            <a:off x="8119872" y="1536192"/>
            <a:ext cx="3401568" cy="182880"/>
          </a:xfrm>
          <a:prstGeom prst="roundRect">
            <a:avLst>
              <a:gd name="adj" fmla="val 20000"/>
            </a:avLst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3" name="Text 41"/>
          <p:cNvSpPr/>
          <p:nvPr/>
        </p:nvSpPr>
        <p:spPr>
          <a:xfrm>
            <a:off x="10927080" y="150876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13.1%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17920" y="18013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Industrials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19872" y="1828800"/>
            <a:ext cx="340156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6" name="Shape 44"/>
          <p:cNvSpPr/>
          <p:nvPr/>
        </p:nvSpPr>
        <p:spPr>
          <a:xfrm>
            <a:off x="8119872" y="1828800"/>
            <a:ext cx="3349636" cy="182880"/>
          </a:xfrm>
          <a:prstGeom prst="roundRect">
            <a:avLst>
              <a:gd name="adj" fmla="val 20000"/>
            </a:avLst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7" name="Text 45"/>
          <p:cNvSpPr/>
          <p:nvPr/>
        </p:nvSpPr>
        <p:spPr>
          <a:xfrm>
            <a:off x="10927080" y="180136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12.9%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17920" y="2093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119872" y="2121408"/>
            <a:ext cx="340156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0" name="Shape 48"/>
          <p:cNvSpPr/>
          <p:nvPr/>
        </p:nvSpPr>
        <p:spPr>
          <a:xfrm>
            <a:off x="8119872" y="2121408"/>
            <a:ext cx="3245771" cy="182880"/>
          </a:xfrm>
          <a:prstGeom prst="roundRect">
            <a:avLst>
              <a:gd name="adj" fmla="val 20000"/>
            </a:avLst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1" name="Text 49"/>
          <p:cNvSpPr/>
          <p:nvPr/>
        </p:nvSpPr>
        <p:spPr>
          <a:xfrm>
            <a:off x="10927080" y="209397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12.5%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17920" y="23865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Healthcare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119872" y="2414016"/>
            <a:ext cx="340156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4" name="Shape 52"/>
          <p:cNvSpPr/>
          <p:nvPr/>
        </p:nvSpPr>
        <p:spPr>
          <a:xfrm>
            <a:off x="8119872" y="2414016"/>
            <a:ext cx="1609902" cy="182880"/>
          </a:xfrm>
          <a:prstGeom prst="roundRect">
            <a:avLst>
              <a:gd name="adj" fmla="val 20000"/>
            </a:avLst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5" name="Text 53"/>
          <p:cNvSpPr/>
          <p:nvPr/>
        </p:nvSpPr>
        <p:spPr>
          <a:xfrm>
            <a:off x="10927080" y="238658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6.2%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17920" y="26791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Consumer Cyclical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119872" y="2706624"/>
            <a:ext cx="340156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8" name="Shape 56"/>
          <p:cNvSpPr/>
          <p:nvPr/>
        </p:nvSpPr>
        <p:spPr>
          <a:xfrm>
            <a:off x="8119872" y="2706624"/>
            <a:ext cx="1402173" cy="182880"/>
          </a:xfrm>
          <a:prstGeom prst="roundRect">
            <a:avLst>
              <a:gd name="adj" fmla="val 20000"/>
            </a:avLst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9" name="Text 57"/>
          <p:cNvSpPr/>
          <p:nvPr/>
        </p:nvSpPr>
        <p:spPr>
          <a:xfrm>
            <a:off x="10927080" y="267919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5.4%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17920" y="2971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Consumer Defensive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119872" y="2999232"/>
            <a:ext cx="340156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2" name="Shape 60"/>
          <p:cNvSpPr/>
          <p:nvPr/>
        </p:nvSpPr>
        <p:spPr>
          <a:xfrm>
            <a:off x="8119872" y="2999232"/>
            <a:ext cx="1220410" cy="182880"/>
          </a:xfrm>
          <a:prstGeom prst="roundRect">
            <a:avLst>
              <a:gd name="adj" fmla="val 20000"/>
            </a:avLst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3" name="Text 61"/>
          <p:cNvSpPr/>
          <p:nvPr/>
        </p:nvSpPr>
        <p:spPr>
          <a:xfrm>
            <a:off x="10927080" y="297180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4.7%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217920" y="32644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Communication Services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119872" y="3291840"/>
            <a:ext cx="340156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6" name="Shape 64"/>
          <p:cNvSpPr/>
          <p:nvPr/>
        </p:nvSpPr>
        <p:spPr>
          <a:xfrm>
            <a:off x="8119872" y="3291840"/>
            <a:ext cx="1194444" cy="182880"/>
          </a:xfrm>
          <a:prstGeom prst="roundRect">
            <a:avLst>
              <a:gd name="adj" fmla="val 20000"/>
            </a:avLst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7" name="Text 65"/>
          <p:cNvSpPr/>
          <p:nvPr/>
        </p:nvSpPr>
        <p:spPr>
          <a:xfrm>
            <a:off x="10927080" y="32644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4.6%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17920" y="35570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Basic Materials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119872" y="3584448"/>
            <a:ext cx="3401568" cy="18288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0" name="Shape 68"/>
          <p:cNvSpPr/>
          <p:nvPr/>
        </p:nvSpPr>
        <p:spPr>
          <a:xfrm>
            <a:off x="8119872" y="3584448"/>
            <a:ext cx="804951" cy="182880"/>
          </a:xfrm>
          <a:prstGeom prst="roundRect">
            <a:avLst>
              <a:gd name="adj" fmla="val 20000"/>
            </a:avLst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1" name="Text 69"/>
          <p:cNvSpPr/>
          <p:nvPr/>
        </p:nvSpPr>
        <p:spPr>
          <a:xfrm>
            <a:off x="10927080" y="355701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3.1%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40080" y="41148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Tre hovedgrunner til denne sammensetningen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40080" y="448056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4" name="Shape 72"/>
          <p:cNvSpPr/>
          <p:nvPr/>
        </p:nvSpPr>
        <p:spPr>
          <a:xfrm>
            <a:off x="749808" y="4572000"/>
            <a:ext cx="274320" cy="274320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5" name="Text 73"/>
          <p:cNvSpPr/>
          <p:nvPr/>
        </p:nvSpPr>
        <p:spPr>
          <a:xfrm>
            <a:off x="749808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097280" y="4572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Diversifisering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77240" y="49377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Porteføljen sprer risiko over flere aktivaklasser, regioner og forvaltere – og reduserer avhengigheten av enkelthendelser.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389120" y="448056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9" name="Shape 77"/>
          <p:cNvSpPr/>
          <p:nvPr/>
        </p:nvSpPr>
        <p:spPr>
          <a:xfrm>
            <a:off x="4498848" y="4572000"/>
            <a:ext cx="274320" cy="274320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0" name="Text 78"/>
          <p:cNvSpPr/>
          <p:nvPr/>
        </p:nvSpPr>
        <p:spPr>
          <a:xfrm>
            <a:off x="4498848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846320" y="4572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Kontantstrøm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526280" y="49377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Rentedelen sikrer løpende yield og bidrar til stabilitet, mens aksjedelen gir langsiktig vekst.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138160" y="448056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4" name="Shape 82"/>
          <p:cNvSpPr/>
          <p:nvPr/>
        </p:nvSpPr>
        <p:spPr>
          <a:xfrm>
            <a:off x="8247888" y="4572000"/>
            <a:ext cx="274320" cy="274320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5" name="Text 83"/>
          <p:cNvSpPr/>
          <p:nvPr/>
        </p:nvSpPr>
        <p:spPr>
          <a:xfrm>
            <a:off x="8247888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8595360" y="4572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Tilpasset profil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275320" y="493776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Sammensetningen er skreddersydd for moderat risikoprofil med 10 års horisont.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9" name="Text 87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Produktoversikt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Full oversikt over alle produkter i porteføljen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8503920" cy="170992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Produkt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Vekt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Rolle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Forv. avk.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Yield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Likviditet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Kategori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Pensum Global Core Active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30.0%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Kjernebyggestein i aksjedelen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10.0%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1.8%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likvid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aksje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Pensum Global Høyrente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30.0%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Rentedel med fokus på løpende avkastning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7.5%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7.0%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likvid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rente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Pensum Global Edge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20.0%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Satellitt for meravkastning i aksjedelen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10.5%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1.2%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likvid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aksje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Pensum Norge A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20.0%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Hjemmemarkeds- og stock-picking-eksponering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11.0%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3.0%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likvid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aksje</a:t>
                      </a:r>
                      <a:endParaRPr lang="en-US" sz="85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640080" y="4206240"/>
          <a:ext cx="164592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2468880" y="4379976"/>
            <a:ext cx="118872" cy="118872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5"/>
          <p:cNvSpPr/>
          <p:nvPr/>
        </p:nvSpPr>
        <p:spPr>
          <a:xfrm>
            <a:off x="2651760" y="4343400"/>
            <a:ext cx="1645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Aksjer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187952" y="4343400"/>
            <a:ext cx="594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70.0%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468880" y="4636008"/>
            <a:ext cx="118872" cy="118872"/>
          </a:xfrm>
          <a:prstGeom prst="ellipse">
            <a:avLst/>
          </a:prstGeom>
          <a:solidFill>
            <a:srgbClr val="C4967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8"/>
          <p:cNvSpPr/>
          <p:nvPr/>
        </p:nvSpPr>
        <p:spPr>
          <a:xfrm>
            <a:off x="2651760" y="4599432"/>
            <a:ext cx="1645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Renter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187952" y="4599432"/>
            <a:ext cx="5943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30.0%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943600" y="47548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F0F4"/>
          </a:solidFill>
          <a:ln w="12700">
            <a:solidFill>
              <a:srgbClr val="6B9DB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Text 11"/>
          <p:cNvSpPr/>
          <p:nvPr/>
        </p:nvSpPr>
        <p:spPr>
          <a:xfrm>
            <a:off x="594360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Likviditet: 100.0% likvid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Text 13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Markedskontekst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Hvorfor en diversifisert portefølje gir mening nå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Shape 5"/>
          <p:cNvSpPr/>
          <p:nvPr/>
        </p:nvSpPr>
        <p:spPr>
          <a:xfrm>
            <a:off x="749808" y="1344168"/>
            <a:ext cx="256032" cy="256032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749808" y="1344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Renter og inflasjon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67335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Sentralbankene har justert pengepolitikken og rentetoppen synes nådd. Rentefall gir medvind for obligasjoner og bedrer forutsetningene for aksjer.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09360" y="12344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" name="Shape 10"/>
          <p:cNvSpPr/>
          <p:nvPr/>
        </p:nvSpPr>
        <p:spPr>
          <a:xfrm>
            <a:off x="6419088" y="1344168"/>
            <a:ext cx="256032" cy="256032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6419088" y="1344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1325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Globale aksjer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167335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Aksjemarkedene er høyt priset historisk, men med store variasjoner mellom regioner og sektorer. Diversifisering er viktigere enn noen gang.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269748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9F7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Shape 15"/>
          <p:cNvSpPr/>
          <p:nvPr/>
        </p:nvSpPr>
        <p:spPr>
          <a:xfrm>
            <a:off x="749808" y="2807208"/>
            <a:ext cx="256032" cy="256032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749808" y="2807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2788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Nordisk kreditt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13639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Nordisk høyrente tilbyr attraktive kredittspreader og god underliggende kvalitet. Misligholdsratene er lave, noe som støtter løpende avkastning.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269748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9F7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" name="Shape 20"/>
          <p:cNvSpPr/>
          <p:nvPr/>
        </p:nvSpPr>
        <p:spPr>
          <a:xfrm>
            <a:off x="6419088" y="2807208"/>
            <a:ext cx="256032" cy="256032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3" name="Text 21"/>
          <p:cNvSpPr/>
          <p:nvPr/>
        </p:nvSpPr>
        <p:spPr>
          <a:xfrm>
            <a:off x="6419088" y="2807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2788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Geopolitikk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313639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Geopolitisk usikkerhet understreker behovet for en robust portefølje som tåler ulike utfall – ikke én bestemt prognose.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4343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Implikasjoner for porteføljen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7091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→  Diversifisering mellom aksjer og renter er avgjørende – begge aktivaklasser har attraktive egenskaper i dagens marked.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50932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→  Aktiv forvaltning kan utnytte prisforskjeller mellom regioner og sektorer bedre enn passiv indeksering alene.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5477256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→  En langsiktig tilnærming beskytter mot kortsiktig volatilitet og utnytter renters-rente-effekten.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1" name="Text 29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Forvaltning og menneskene bak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Hvem som følger opp porteføljen din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4630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Lars Kirkeby-Garstad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DB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CEO / Porteføljeforvalter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Overordnet porteføljestyring og kunderelasjoner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45920" y="22860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Bred erfaring fra finans og kapitalforvaltning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6492240" y="1554480"/>
            <a:ext cx="640080" cy="640080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Text 13"/>
          <p:cNvSpPr/>
          <p:nvPr/>
        </p:nvSpPr>
        <p:spPr>
          <a:xfrm>
            <a:off x="64922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0" y="14630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Lars Erik Moen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17373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DB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CIO / Porteføljeforvalter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Aksjeforvaltning og fondsseleksjon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0" y="22860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Tidligere erfaring fra aksjeforvaltning og analyse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3291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1" name="Shape 19"/>
          <p:cNvSpPr/>
          <p:nvPr/>
        </p:nvSpPr>
        <p:spPr>
          <a:xfrm>
            <a:off x="822960" y="3566160"/>
            <a:ext cx="640080" cy="640080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2" name="Text 20"/>
          <p:cNvSpPr/>
          <p:nvPr/>
        </p:nvSpPr>
        <p:spPr>
          <a:xfrm>
            <a:off x="82296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34747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Petter Bakken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37490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DB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Porteføljeforvalter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40233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Renteforvaltning og kredittanalyse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45920" y="4297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Spesialisert på rentemarkedene og kredittseleksjon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3291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8" name="Shape 26"/>
          <p:cNvSpPr/>
          <p:nvPr/>
        </p:nvSpPr>
        <p:spPr>
          <a:xfrm>
            <a:off x="6492240" y="3566160"/>
            <a:ext cx="640080" cy="640080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9" name="Text 27"/>
          <p:cNvSpPr/>
          <p:nvPr/>
        </p:nvSpPr>
        <p:spPr>
          <a:xfrm>
            <a:off x="649224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MO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0" y="34747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Mads Opsahl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0" y="37490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9DB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Porteføljeforvalter / analytiker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40233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Analyse og spesialmandater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15200" y="4297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Erfaring fra investeringsanalyse og kapitalforvaltning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" y="53949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9F7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5" name="Text 33"/>
          <p:cNvSpPr/>
          <p:nvPr/>
        </p:nvSpPr>
        <p:spPr>
          <a:xfrm>
            <a:off x="822960" y="54132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Hvordan investeringsbeslutninger tas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" y="565099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Alle porteføljebeslutninger fattes i investeringskomitéen. Porteføljene rebalanseres regelmessig, med løpende overvåking av risiko, eksponering og markedsutsikter.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8" name="Text 36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Oppfølging og rapportering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Hvordan du opplever samarbeidet etter at pengene er investert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Nettoavkastning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Se porteføljens utvikling etter alle kostnader – alltid oppdatert og transparent.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4526280" y="132588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Transaksjoner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1645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Full oversikt over alle kjøp, salg og rebalanseringer i porteføljen.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E8F0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8275320" y="132588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Allokering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1645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Løpende visning av aktivafordeling og produktvekter relativt til mandat.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9F7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777240" y="27432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Daglig oversikt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0632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Tilgang til daglig oppdatert porteføljestatus via sikker innlogging.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89120" y="265176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9F7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Text 17"/>
          <p:cNvSpPr/>
          <p:nvPr/>
        </p:nvSpPr>
        <p:spPr>
          <a:xfrm>
            <a:off x="4526280" y="27432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Samlet visning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30632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Se alle dine porteføljer og kundeforhold samlet i ett grensesnitt.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138160" y="265176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9F7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" name="Text 20"/>
          <p:cNvSpPr/>
          <p:nvPr/>
        </p:nvSpPr>
        <p:spPr>
          <a:xfrm>
            <a:off x="8275320" y="27432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Skatterapportering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75320" y="30632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Årlig skatterapport og hendelsesoversikt klart til selvangivelsen.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10881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Løpende kommunikasjon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57200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E8F5F0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6" name="Text 24"/>
          <p:cNvSpPr/>
          <p:nvPr/>
        </p:nvSpPr>
        <p:spPr>
          <a:xfrm>
            <a:off x="731520" y="46177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Markedsbrev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892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Regelmessige oppdateringer om markeder og porteføljeutvikling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457200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E8F5F0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9" name="Text 27"/>
          <p:cNvSpPr/>
          <p:nvPr/>
        </p:nvSpPr>
        <p:spPr>
          <a:xfrm>
            <a:off x="3566160" y="46177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Rebalansering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66160" y="4892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Proaktiv oppfølging og justeringer ved behov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09360" y="457200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E8F5F0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2" name="Text 30"/>
          <p:cNvSpPr/>
          <p:nvPr/>
        </p:nvSpPr>
        <p:spPr>
          <a:xfrm>
            <a:off x="6400800" y="46177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Årlig gjennomgang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892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Detaljert gjennomgang av portefølje, mål og strategi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144000" y="4572000"/>
            <a:ext cx="2606040" cy="1005840"/>
          </a:xfrm>
          <a:prstGeom prst="roundRect">
            <a:avLst>
              <a:gd name="adj" fmla="val 5455"/>
            </a:avLst>
          </a:prstGeom>
          <a:solidFill>
            <a:srgbClr val="E8F5F0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5" name="Text 33"/>
          <p:cNvSpPr/>
          <p:nvPr/>
        </p:nvSpPr>
        <p:spPr>
          <a:xfrm>
            <a:off x="9235440" y="4617720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TV / Media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35440" y="4892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Videooppdateringer og markedskommentarer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8" name="Text 36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Viktig informasjon og neste steg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Viktig informasjon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Denne presentasjonen er en illustrativ investeringsskisse og utgjør ikke personlig investeringsråd eller en individuell egnethetsvurdering.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Historisk avkastning er ingen garanti for fremtidig avkastning. Verdien av investeringer kan gå ned så vel som opp.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3774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Før kundeetablering gjennomføres en fullstendig egnethetsvurdering og KYC-prosess i henhold til gjeldende regelverk.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4.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Alle avkastningstall er oppgitt brutto med mindre annet er spesifisert. Faktisk avkastning kan avvike fra illustrerte scenarier.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5.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20040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 har konsesjon fra Finanstilsynet til å drive investeringsrådgivning og aktiv porteføljeforvaltning.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118872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E8F0F4"/>
          </a:solidFill>
          <a:ln w="12700">
            <a:solidFill>
              <a:srgbClr val="6B9DB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749808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Neste steg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1664208"/>
            <a:ext cx="3657600" cy="0"/>
          </a:xfrm>
          <a:prstGeom prst="line">
            <a:avLst/>
          </a:prstGeom>
          <a:noFill/>
          <a:ln w="12700">
            <a:solidFill>
              <a:srgbClr val="6B9DB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7589520" y="1892808"/>
            <a:ext cx="292608" cy="292608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18"/>
          <p:cNvSpPr/>
          <p:nvPr/>
        </p:nvSpPr>
        <p:spPr>
          <a:xfrm>
            <a:off x="7589520" y="1892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187452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Gjennomgang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2130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Vi gjennomgår forslaget og tilpasser til dine ønsker og behov.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89520" y="2624328"/>
            <a:ext cx="292608" cy="292608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Text 22"/>
          <p:cNvSpPr/>
          <p:nvPr/>
        </p:nvSpPr>
        <p:spPr>
          <a:xfrm>
            <a:off x="7589520" y="2624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26060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Eventuelle justeringer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28620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Allokering, produktvalg og horisont justeres etter samtale.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589520" y="3355848"/>
            <a:ext cx="292608" cy="292608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8" name="Text 26"/>
          <p:cNvSpPr/>
          <p:nvPr/>
        </p:nvSpPr>
        <p:spPr>
          <a:xfrm>
            <a:off x="7589520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33375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Kundeetablering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3593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Formell prosess med egnethetsvurdering, KYC og avtaleverk.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89520" y="4087368"/>
            <a:ext cx="292608" cy="292608"/>
          </a:xfrm>
          <a:prstGeom prst="ellipse">
            <a:avLst/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2" name="Text 30"/>
          <p:cNvSpPr/>
          <p:nvPr/>
        </p:nvSpPr>
        <p:spPr>
          <a:xfrm>
            <a:off x="7589520" y="4087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40690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41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Implementering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325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Porteføljen settes opp og du får tilgang til løpende rapportering.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" y="53949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0D2841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Text 34"/>
          <p:cNvSpPr/>
          <p:nvPr/>
        </p:nvSpPr>
        <p:spPr>
          <a:xfrm>
            <a:off x="822960" y="544068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Kontakt din rådgiver i Pensum Asset Management for videre oppfølging.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5687568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9DB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www.pensumgroup.no  |  post@pensumgroup.no  |  +47 22 01 27 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9" name="Text 37"/>
          <p:cNvSpPr/>
          <p:nvPr/>
        </p:nvSpPr>
        <p:spPr>
          <a:xfrm>
            <a:off x="640080" y="623620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Illustrativ modellportefølje – ikke personlig investeringsråd eller egnethetsvurdering.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326880" y="62362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Pensum Asset Management AS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430000" y="623620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68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rriweather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rriweather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1500</Words>
  <Application>Microsoft Office PowerPoint</Application>
  <PresentationFormat>Widescreen</PresentationFormat>
  <Paragraphs>436</Paragraphs>
  <Slides>12</Slides>
  <Notes>12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5" baseType="lpstr">
      <vt:lpstr>Arial</vt:lpstr>
      <vt:lpstr>Merriweather Sans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Pensum Asset Management 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Pensum – Investeringsforslag – Investor</dc:title>
  <dc:subject>Investeringsforslag</dc:subject>
  <dc:creator>Pensum Asset Management</dc:creator>
  <cp:lastModifiedBy>Magnus Kløvstad Langberg</cp:lastModifiedBy>
  <cp:revision>2</cp:revision>
  <dcterms:created xsi:type="dcterms:W3CDTF">2026-03-15T17:01:20Z</dcterms:created>
  <dcterms:modified xsi:type="dcterms:W3CDTF">2026-03-15T17:03:54Z</dcterms:modified>
</cp:coreProperties>
</file>