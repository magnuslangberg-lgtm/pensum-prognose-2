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7234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Pensum_Investeringsforslag_Investor_2026-03-11.pptx: investerbar kapital NOK 10m, forventet avkastning 9,7%, yield 3,5%, aksje/rente 73/27%, 100% likvid og forventet sluttverdi ca. NOK 24,0m etter 10 år.
- NY Pensum Profilhåndbok 2021 (1).pdf: brukt som grunnlag for fargepalett, typografi og rent, kompakt uttrykk.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Pensum_Investeringsforslag_Investor_2026-03-11.pptx: samlet oppgitt formue, investerbar kapital, risikoprofil, horisont og målsetting; tekst om porteføljelogikk og rådgivers vurdering.
- Mal - Forslag til investeringsportefølje 2026.pptx og Forslag til investeringsportefølje, Robins AS.ppt: brukt som referanse for rekkefølge på investeringsmandat, forutsetninger og rådgivende struktur.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Pensum_Investeringsforslag_Investor_2026-03-11.pptx: produktvekter, roller og nøkkeltall for Pensum Global Core Active, Pensum Global Høyrente, Pensum Global Edge, Pensum Norge A og Pensum Global Energy A.
- NY Pensum Profilhåndbok 2021 (1).pdf: brukt for farger, typografi og layoutprinsipp.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Pensum_Investeringsforslag_Investor_2026-03-11.pptx: tekstgrunnlag for aksjedel, rentedel og rådgivers vurdering, samt produktvekter og roller.
- Forslag til investeringsportefølje, Robins AS.ppt: brukt som referanse for tydelig forklaring av hvordan byggesteiner skal bidra i totalporteføljen.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Pensum_Investeringsforslag_Investor_2026-03-11.pptx: scenarioanalyse (pessimistisk, forventet, optimistisk), historisk vektet avkastning for 2022-2026 YTD, forventet årlig avkastning og øvrige risikonøkler.
- Scenariofremstillingen i denne presentasjonen er en stilisert visualisering av tallene i investeringsforslaget, ikke en ny beregning.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Pensum_Investeringsforslag_Investor_2026-03-11.pptx: aggregert regioneksponering og sektoreksponering på tvers av den anbefalte porteføljen.
- Teksten på denne siden er en oppsummerende syntese av investeringsforslaget og porteføljelogikken.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Pensum_Investeringsforslag_Investor_2026-03-11.pptx og Mal - Forslag til investeringsportefølje 2026.pptx: grunnlag for viktig informasjon og pre-kunde-disclaimer.
- Forslag til investeringsportefølje, Robins AS.ppt og Bergen Bys Utdannelseslegat.aktiv forvaltning globale aksjer.pdf: brukt som referanse for hvordan viktig informasjon og formalia kan presenteres i kundepresentasjoner.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841"/>
          </a:solidFill>
          <a:ln w="12700">
            <a:solidFill>
              <a:srgbClr val="0D2841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" name="Shape 1"/>
          <p:cNvSpPr/>
          <p:nvPr/>
        </p:nvSpPr>
        <p:spPr>
          <a:xfrm>
            <a:off x="8031175" y="0"/>
            <a:ext cx="4160520" cy="6858000"/>
          </a:xfrm>
          <a:prstGeom prst="rect">
            <a:avLst/>
          </a:prstGeom>
          <a:solidFill>
            <a:srgbClr val="102F4B"/>
          </a:solidFill>
          <a:ln w="12700">
            <a:solidFill>
              <a:srgbClr val="102F4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4" name="Text 2"/>
          <p:cNvSpPr/>
          <p:nvPr/>
        </p:nvSpPr>
        <p:spPr>
          <a:xfrm>
            <a:off x="512064" y="320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PENSUM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975104" y="356616"/>
            <a:ext cx="9144" cy="201168"/>
          </a:xfrm>
          <a:prstGeom prst="line">
            <a:avLst/>
          </a:prstGeom>
          <a:noFill/>
          <a:ln w="12700">
            <a:solidFill>
              <a:srgbClr val="D3826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6" name="Text 4"/>
          <p:cNvSpPr/>
          <p:nvPr/>
        </p:nvSpPr>
        <p:spPr>
          <a:xfrm>
            <a:off x="2084832" y="356616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6D4D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ASSET MANAGEMENT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12064" y="749808"/>
            <a:ext cx="1783080" cy="219456"/>
          </a:xfrm>
          <a:prstGeom prst="roundRect">
            <a:avLst>
              <a:gd name="adj" fmla="val 41667"/>
            </a:avLst>
          </a:prstGeom>
          <a:solidFill>
            <a:srgbClr val="D3826A"/>
          </a:solidFill>
          <a:ln w="12700">
            <a:solidFill>
              <a:srgbClr val="D3826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8" name="Text 6"/>
          <p:cNvSpPr/>
          <p:nvPr/>
        </p:nvSpPr>
        <p:spPr>
          <a:xfrm>
            <a:off x="530352" y="768096"/>
            <a:ext cx="1746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ILLUSTRATIV OPPSUMMERING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512064" y="109728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Oppsummering av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investeringsforslag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512064" y="23957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C6D4DF"/>
                </a:solidFill>
              </a:rPr>
              <a:t>Investor  |  11. mars 2026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12064" y="2761488"/>
            <a:ext cx="3520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7EEF4"/>
                </a:solidFill>
              </a:rPr>
              <a:t>Forslaget kombinerer global kjerneeksponering, en stabiliserende rentedel og selektive satellitter. Målet er en robust, likvid portefølje med tydelig rollefordeling mellom hver byggestein.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12064" y="5760720"/>
            <a:ext cx="3794760" cy="530352"/>
          </a:xfrm>
          <a:prstGeom prst="roundRect">
            <a:avLst>
              <a:gd name="adj" fmla="val 20690"/>
            </a:avLst>
          </a:prstGeom>
          <a:solidFill>
            <a:srgbClr val="123E6A">
              <a:alpha val="70000"/>
            </a:srgbClr>
          </a:solidFill>
          <a:ln w="12700">
            <a:solidFill>
              <a:srgbClr val="3D688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3" name="Text 11"/>
          <p:cNvSpPr/>
          <p:nvPr/>
        </p:nvSpPr>
        <p:spPr>
          <a:xfrm>
            <a:off x="676656" y="59161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100% likvid  •  Moderat risikoprofil  •  10 års horisont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8028432" y="1005840"/>
            <a:ext cx="1572768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C8D3DD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5" name="Text 13"/>
          <p:cNvSpPr/>
          <p:nvPr/>
        </p:nvSpPr>
        <p:spPr>
          <a:xfrm>
            <a:off x="8156448" y="1133856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667889"/>
                </a:solidFill>
              </a:rPr>
              <a:t>Investerbar kapital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8156448" y="141732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2841"/>
                </a:solidFill>
              </a:rPr>
              <a:t>NOK 10,0m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802368" y="1005840"/>
            <a:ext cx="1572768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C8D3DD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8" name="Text 16"/>
          <p:cNvSpPr/>
          <p:nvPr/>
        </p:nvSpPr>
        <p:spPr>
          <a:xfrm>
            <a:off x="9930384" y="1133856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667889"/>
                </a:solidFill>
              </a:rPr>
              <a:t>Forv. årlig avkastning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9930384" y="141732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2841"/>
                </a:solidFill>
              </a:rPr>
              <a:t>9,7%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028432" y="2304288"/>
            <a:ext cx="1572768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C8D3DD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1" name="Text 19"/>
          <p:cNvSpPr/>
          <p:nvPr/>
        </p:nvSpPr>
        <p:spPr>
          <a:xfrm>
            <a:off x="8156448" y="2432304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667889"/>
                </a:solidFill>
              </a:rPr>
              <a:t>Forv. yield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8156448" y="2715768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2841"/>
                </a:solidFill>
              </a:rPr>
              <a:t>3,5%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802368" y="2304288"/>
            <a:ext cx="1572768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C8D3DD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4" name="Text 22"/>
          <p:cNvSpPr/>
          <p:nvPr/>
        </p:nvSpPr>
        <p:spPr>
          <a:xfrm>
            <a:off x="9930384" y="2432304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667889"/>
                </a:solidFill>
              </a:rPr>
              <a:t>Aksjer / renter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9930384" y="2715768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2841"/>
                </a:solidFill>
              </a:rPr>
              <a:t>73 / 27%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028432" y="3602736"/>
            <a:ext cx="1572768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C8D3DD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7" name="Text 25"/>
          <p:cNvSpPr/>
          <p:nvPr/>
        </p:nvSpPr>
        <p:spPr>
          <a:xfrm>
            <a:off x="8156448" y="373075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667889"/>
                </a:solidFill>
              </a:rPr>
              <a:t>Forv. sluttverdi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8156448" y="4014216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2841"/>
                </a:solidFill>
              </a:rPr>
              <a:t>NOK 24,0m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9802368" y="3602736"/>
            <a:ext cx="1572768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C8D3DD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0" name="Text 28"/>
          <p:cNvSpPr/>
          <p:nvPr/>
        </p:nvSpPr>
        <p:spPr>
          <a:xfrm>
            <a:off x="9930384" y="373075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667889"/>
                </a:solidFill>
              </a:rPr>
              <a:t>Horisont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9930384" y="4014216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2841"/>
                </a:solidFill>
              </a:rPr>
              <a:t>10 år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12064" y="6464808"/>
            <a:ext cx="11167567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3" name="Text 31"/>
          <p:cNvSpPr/>
          <p:nvPr/>
        </p:nvSpPr>
        <p:spPr>
          <a:xfrm>
            <a:off x="512064" y="6556248"/>
            <a:ext cx="9784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67889"/>
                </a:solidFill>
              </a:rPr>
              <a:t>Illustrasjonen oppsummerer en modellportefølje og forutsetter egen kundeetablering og egnethetsvurdering før eventuelle råd eller investeringer.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11451031" y="654710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667889"/>
                </a:solidFill>
              </a:rPr>
              <a:t>1</a:t>
            </a:r>
            <a:endParaRPr lang="en-US" sz="7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560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284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PENSUM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929384" y="283464"/>
            <a:ext cx="9144" cy="201168"/>
          </a:xfrm>
          <a:prstGeom prst="line">
            <a:avLst/>
          </a:prstGeom>
          <a:noFill/>
          <a:ln w="12700">
            <a:solidFill>
              <a:srgbClr val="D3826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4" name="Text 2"/>
          <p:cNvSpPr/>
          <p:nvPr/>
        </p:nvSpPr>
        <p:spPr>
          <a:xfrm>
            <a:off x="2048256" y="28346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88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ASSET MANAGEMENT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485071" y="29260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4F8AA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ILLUSTRATIV OPPSUMMERING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D284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Utgangspunkt og investeringsmandat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12064" y="1316736"/>
            <a:ext cx="11167567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8" name="Shape 6"/>
          <p:cNvSpPr/>
          <p:nvPr/>
        </p:nvSpPr>
        <p:spPr>
          <a:xfrm>
            <a:off x="512064" y="1609344"/>
            <a:ext cx="3712464" cy="4370832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9" name="Text 7"/>
          <p:cNvSpPr/>
          <p:nvPr/>
        </p:nvSpPr>
        <p:spPr>
          <a:xfrm>
            <a:off x="713232" y="18013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841"/>
                </a:solidFill>
              </a:rPr>
              <a:t>Forutsetninger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13232" y="217627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667889"/>
                </a:solidFill>
              </a:rPr>
              <a:t>Samlet oppgitt formue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2505456" y="2167128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163044"/>
                </a:solidFill>
              </a:rPr>
              <a:t>NOK 10,0m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713232" y="2670048"/>
            <a:ext cx="3310128" cy="0"/>
          </a:xfrm>
          <a:prstGeom prst="line">
            <a:avLst/>
          </a:prstGeom>
          <a:noFill/>
          <a:ln w="12700">
            <a:solidFill>
              <a:srgbClr val="E7ECF1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3" name="Text 11"/>
          <p:cNvSpPr/>
          <p:nvPr/>
        </p:nvSpPr>
        <p:spPr>
          <a:xfrm>
            <a:off x="713232" y="274320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667889"/>
                </a:solidFill>
              </a:rPr>
              <a:t>Investerbar kapital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505456" y="273405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163044"/>
                </a:solidFill>
              </a:rPr>
              <a:t>NOK 10,0m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713232" y="3236976"/>
            <a:ext cx="3310128" cy="0"/>
          </a:xfrm>
          <a:prstGeom prst="line">
            <a:avLst/>
          </a:prstGeom>
          <a:noFill/>
          <a:ln w="12700">
            <a:solidFill>
              <a:srgbClr val="E7ECF1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6" name="Text 14"/>
          <p:cNvSpPr/>
          <p:nvPr/>
        </p:nvSpPr>
        <p:spPr>
          <a:xfrm>
            <a:off x="713232" y="331012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667889"/>
                </a:solidFill>
              </a:rPr>
              <a:t>Risikoprofil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2505456" y="3300984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163044"/>
                </a:solidFill>
              </a:rPr>
              <a:t>Moderat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713232" y="3803904"/>
            <a:ext cx="3310128" cy="0"/>
          </a:xfrm>
          <a:prstGeom prst="line">
            <a:avLst/>
          </a:prstGeom>
          <a:noFill/>
          <a:ln w="12700">
            <a:solidFill>
              <a:srgbClr val="E7ECF1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9" name="Text 17"/>
          <p:cNvSpPr/>
          <p:nvPr/>
        </p:nvSpPr>
        <p:spPr>
          <a:xfrm>
            <a:off x="713232" y="387705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667889"/>
                </a:solidFill>
              </a:rPr>
              <a:t>Tidshorisont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2505456" y="386791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163044"/>
                </a:solidFill>
              </a:rPr>
              <a:t>10 år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713232" y="4370832"/>
            <a:ext cx="3310128" cy="0"/>
          </a:xfrm>
          <a:prstGeom prst="line">
            <a:avLst/>
          </a:prstGeom>
          <a:noFill/>
          <a:ln w="12700">
            <a:solidFill>
              <a:srgbClr val="E7ECF1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2" name="Text 20"/>
          <p:cNvSpPr/>
          <p:nvPr/>
        </p:nvSpPr>
        <p:spPr>
          <a:xfrm>
            <a:off x="713232" y="444398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667889"/>
                </a:solidFill>
              </a:rPr>
              <a:t>Målsetting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2505456" y="4434840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163044"/>
                </a:solidFill>
              </a:rPr>
              <a:t>9,2% p.a.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713232" y="4937760"/>
            <a:ext cx="3310128" cy="0"/>
          </a:xfrm>
          <a:prstGeom prst="line">
            <a:avLst/>
          </a:prstGeom>
          <a:noFill/>
          <a:ln w="12700">
            <a:solidFill>
              <a:srgbClr val="E7ECF1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5" name="Text 23"/>
          <p:cNvSpPr/>
          <p:nvPr/>
        </p:nvSpPr>
        <p:spPr>
          <a:xfrm>
            <a:off x="713232" y="501091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667889"/>
                </a:solidFill>
              </a:rPr>
              <a:t>Likviditet</a:t>
            </a:r>
            <a:endParaRPr lang="en-US" sz="960" dirty="0"/>
          </a:p>
        </p:txBody>
      </p:sp>
      <p:sp>
        <p:nvSpPr>
          <p:cNvPr id="26" name="Text 24"/>
          <p:cNvSpPr/>
          <p:nvPr/>
        </p:nvSpPr>
        <p:spPr>
          <a:xfrm>
            <a:off x="2505456" y="5001768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163044"/>
                </a:solidFill>
              </a:rPr>
              <a:t>Daglig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713232" y="5230368"/>
            <a:ext cx="3310128" cy="530352"/>
          </a:xfrm>
          <a:prstGeom prst="roundRect">
            <a:avLst>
              <a:gd name="adj" fmla="val 17241"/>
            </a:avLst>
          </a:prstGeom>
          <a:solidFill>
            <a:srgbClr val="EEF4F8"/>
          </a:solidFill>
          <a:ln w="12700">
            <a:solidFill>
              <a:srgbClr val="D5E0E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8" name="Text 26"/>
          <p:cNvSpPr/>
          <p:nvPr/>
        </p:nvSpPr>
        <p:spPr>
          <a:xfrm>
            <a:off x="841248" y="538581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163044"/>
                </a:solidFill>
              </a:rPr>
              <a:t>Skillet mellom samlet formue og investerbar kapital er viktig. I forslaget modelleres kapitalen som faktisk settes i arbeid.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4443984" y="1609344"/>
            <a:ext cx="2926080" cy="4370832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30" name="Text 28"/>
          <p:cNvSpPr/>
          <p:nvPr/>
        </p:nvSpPr>
        <p:spPr>
          <a:xfrm>
            <a:off x="4645152" y="18013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841"/>
                </a:solidFill>
              </a:rPr>
              <a:t>Porteføljelogikk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654296" y="217627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23E6A"/>
          </a:solidFill>
          <a:ln w="12700">
            <a:solidFill>
              <a:srgbClr val="123E6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2" name="Text 30"/>
          <p:cNvSpPr/>
          <p:nvPr/>
        </p:nvSpPr>
        <p:spPr>
          <a:xfrm>
            <a:off x="4654296" y="224485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20640" y="217627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0D2841"/>
                </a:solidFill>
              </a:rPr>
              <a:t>Bygg robust kjerne</a:t>
            </a:r>
            <a:endParaRPr lang="en-US" sz="1060" dirty="0"/>
          </a:p>
        </p:txBody>
      </p:sp>
      <p:sp>
        <p:nvSpPr>
          <p:cNvPr id="34" name="Text 32"/>
          <p:cNvSpPr/>
          <p:nvPr/>
        </p:nvSpPr>
        <p:spPr>
          <a:xfrm>
            <a:off x="5120640" y="239572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163044"/>
                </a:solidFill>
              </a:rPr>
              <a:t>Kjerneporteføljen gir bred global eksponering og fungerer som hovedmotor i verdiskapingen.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4654296" y="3300984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F7A5B"/>
          </a:solidFill>
          <a:ln w="12700">
            <a:solidFill>
              <a:srgbClr val="1F7A5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6" name="Text 34"/>
          <p:cNvSpPr/>
          <p:nvPr/>
        </p:nvSpPr>
        <p:spPr>
          <a:xfrm>
            <a:off x="4654296" y="336956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20640" y="330098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0D2841"/>
                </a:solidFill>
              </a:rPr>
              <a:t>Stabiliser totalen</a:t>
            </a:r>
            <a:endParaRPr lang="en-US" sz="1060" dirty="0"/>
          </a:p>
        </p:txBody>
      </p:sp>
      <p:sp>
        <p:nvSpPr>
          <p:cNvPr id="38" name="Text 36"/>
          <p:cNvSpPr/>
          <p:nvPr/>
        </p:nvSpPr>
        <p:spPr>
          <a:xfrm>
            <a:off x="5120640" y="352044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163044"/>
                </a:solidFill>
              </a:rPr>
              <a:t>Rentedelen skal bidra med løpende yield og dempe svingningene relativt til aksjedelen.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4654296" y="442569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D3826A"/>
          </a:solidFill>
          <a:ln w="12700">
            <a:solidFill>
              <a:srgbClr val="D3826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40" name="Text 38"/>
          <p:cNvSpPr/>
          <p:nvPr/>
        </p:nvSpPr>
        <p:spPr>
          <a:xfrm>
            <a:off x="4654296" y="449427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120640" y="442569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0D2841"/>
                </a:solidFill>
              </a:rPr>
              <a:t>Bruk satellitter selektivt</a:t>
            </a:r>
            <a:endParaRPr lang="en-US" sz="1060" dirty="0"/>
          </a:p>
        </p:txBody>
      </p:sp>
      <p:sp>
        <p:nvSpPr>
          <p:cNvPr id="42" name="Text 40"/>
          <p:cNvSpPr/>
          <p:nvPr/>
        </p:nvSpPr>
        <p:spPr>
          <a:xfrm>
            <a:off x="5120640" y="4645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163044"/>
                </a:solidFill>
              </a:rPr>
              <a:t>Norge, energi og mer spisset global allokering brukes for å øke potensialet for meravkastning.</a:t>
            </a:r>
            <a:endParaRPr lang="en-US" sz="870" dirty="0"/>
          </a:p>
        </p:txBody>
      </p:sp>
      <p:sp>
        <p:nvSpPr>
          <p:cNvPr id="43" name="Shape 41"/>
          <p:cNvSpPr/>
          <p:nvPr/>
        </p:nvSpPr>
        <p:spPr>
          <a:xfrm>
            <a:off x="7589520" y="1609344"/>
            <a:ext cx="4096512" cy="4370832"/>
          </a:xfrm>
          <a:prstGeom prst="roundRect">
            <a:avLst>
              <a:gd name="adj" fmla="val 3125"/>
            </a:avLst>
          </a:prstGeom>
          <a:solidFill>
            <a:srgbClr val="0D2841"/>
          </a:solidFill>
          <a:ln w="12700">
            <a:solidFill>
              <a:srgbClr val="0D2841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44" name="Text 42"/>
          <p:cNvSpPr/>
          <p:nvPr/>
        </p:nvSpPr>
        <p:spPr>
          <a:xfrm>
            <a:off x="7790688" y="18013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Rådgivers vurdering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7790688" y="2139696"/>
            <a:ext cx="34381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E7EEF4"/>
                </a:solidFill>
              </a:rPr>
              <a:t>Forslaget er satt sammen for å kombinere robust kjerneeksponering med utvalgte satellitter. Løsningene er valgt for å utfylle hverandre på tvers av geografi, aktivaklasse og investeringsstil.</a:t>
            </a:r>
            <a:endParaRPr lang="en-US" sz="1140" dirty="0"/>
          </a:p>
        </p:txBody>
      </p:sp>
      <p:sp>
        <p:nvSpPr>
          <p:cNvPr id="46" name="Shape 44"/>
          <p:cNvSpPr/>
          <p:nvPr/>
        </p:nvSpPr>
        <p:spPr>
          <a:xfrm>
            <a:off x="7790688" y="3163824"/>
            <a:ext cx="3438144" cy="0"/>
          </a:xfrm>
          <a:prstGeom prst="line">
            <a:avLst/>
          </a:prstGeom>
          <a:noFill/>
          <a:ln w="12700">
            <a:solidFill>
              <a:srgbClr val="355877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47" name="Shape 45"/>
          <p:cNvSpPr/>
          <p:nvPr/>
        </p:nvSpPr>
        <p:spPr>
          <a:xfrm>
            <a:off x="7808976" y="3419856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4F8AA9"/>
          </a:solidFill>
          <a:ln w="12700">
            <a:solidFill>
              <a:srgbClr val="4F8AA9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48" name="Text 46"/>
          <p:cNvSpPr/>
          <p:nvPr/>
        </p:nvSpPr>
        <p:spPr>
          <a:xfrm>
            <a:off x="8046720" y="340156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FFFFFF"/>
                </a:solidFill>
              </a:rPr>
              <a:t>Bred global basiseksponering som hovedmotor for langsiktig verdiskaping</a:t>
            </a:r>
            <a:endParaRPr lang="en-US" sz="930" dirty="0"/>
          </a:p>
        </p:txBody>
      </p:sp>
      <p:sp>
        <p:nvSpPr>
          <p:cNvPr id="49" name="Shape 47"/>
          <p:cNvSpPr/>
          <p:nvPr/>
        </p:nvSpPr>
        <p:spPr>
          <a:xfrm>
            <a:off x="7808976" y="4041648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1F7A5B"/>
          </a:solidFill>
          <a:ln w="12700">
            <a:solidFill>
              <a:srgbClr val="1F7A5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50" name="Text 48"/>
          <p:cNvSpPr/>
          <p:nvPr/>
        </p:nvSpPr>
        <p:spPr>
          <a:xfrm>
            <a:off x="8046720" y="40233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FFFFFF"/>
                </a:solidFill>
              </a:rPr>
              <a:t>Rentedel som stabiliserende buffer og bærer av løpende kontantstrøm</a:t>
            </a:r>
            <a:endParaRPr lang="en-US" sz="930" dirty="0"/>
          </a:p>
        </p:txBody>
      </p:sp>
      <p:sp>
        <p:nvSpPr>
          <p:cNvPr id="51" name="Shape 49"/>
          <p:cNvSpPr/>
          <p:nvPr/>
        </p:nvSpPr>
        <p:spPr>
          <a:xfrm>
            <a:off x="7808976" y="466344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D3826A"/>
          </a:solidFill>
          <a:ln w="12700">
            <a:solidFill>
              <a:srgbClr val="D3826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52" name="Text 50"/>
          <p:cNvSpPr/>
          <p:nvPr/>
        </p:nvSpPr>
        <p:spPr>
          <a:xfrm>
            <a:off x="8046720" y="464515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FFFFFF"/>
                </a:solidFill>
              </a:rPr>
              <a:t>Selektive satellitter for tydeligere aktive valg og høyere meravkastningspotensial</a:t>
            </a:r>
            <a:endParaRPr lang="en-US" sz="930" dirty="0"/>
          </a:p>
        </p:txBody>
      </p:sp>
      <p:sp>
        <p:nvSpPr>
          <p:cNvPr id="53" name="Shape 51"/>
          <p:cNvSpPr/>
          <p:nvPr/>
        </p:nvSpPr>
        <p:spPr>
          <a:xfrm>
            <a:off x="512064" y="6464808"/>
            <a:ext cx="11167567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54" name="Text 52"/>
          <p:cNvSpPr/>
          <p:nvPr/>
        </p:nvSpPr>
        <p:spPr>
          <a:xfrm>
            <a:off x="512064" y="6556248"/>
            <a:ext cx="9784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67889"/>
                </a:solidFill>
              </a:rPr>
              <a:t>Illustrasjonen er ment som en oppsummering av en modellportefølje og er ikke personlig investeringsrådgivning.</a:t>
            </a: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11451031" y="654710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667889"/>
                </a:solidFill>
              </a:rPr>
              <a:t>2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560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284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PENSUM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929384" y="283464"/>
            <a:ext cx="9144" cy="201168"/>
          </a:xfrm>
          <a:prstGeom prst="line">
            <a:avLst/>
          </a:prstGeom>
          <a:noFill/>
          <a:ln w="12700">
            <a:solidFill>
              <a:srgbClr val="D3826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4" name="Text 2"/>
          <p:cNvSpPr/>
          <p:nvPr/>
        </p:nvSpPr>
        <p:spPr>
          <a:xfrm>
            <a:off x="2048256" y="28346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88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ASSET MANAGEMENT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485071" y="29260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4F8AA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ILLUSTRATIV OPPSUMMERING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D284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Anbefalt porteføljesammensetning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12064" y="1316736"/>
            <a:ext cx="11167567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8" name="Shape 6"/>
          <p:cNvSpPr/>
          <p:nvPr/>
        </p:nvSpPr>
        <p:spPr>
          <a:xfrm>
            <a:off x="512064" y="1609344"/>
            <a:ext cx="2999232" cy="4370832"/>
          </a:xfrm>
          <a:prstGeom prst="roundRect">
            <a:avLst>
              <a:gd name="adj" fmla="val 4268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9" name="Text 7"/>
          <p:cNvSpPr/>
          <p:nvPr/>
        </p:nvSpPr>
        <p:spPr>
          <a:xfrm>
            <a:off x="713232" y="18013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841"/>
                </a:solidFill>
              </a:rPr>
              <a:t>Allokering</a:t>
            </a:r>
            <a:endParaRPr lang="en-US" sz="12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" y="2084832"/>
            <a:ext cx="2331720" cy="23317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04672" y="4617720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123E6A"/>
          </a:solidFill>
          <a:ln w="12700">
            <a:solidFill>
              <a:srgbClr val="123E6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2" name="Text 9"/>
          <p:cNvSpPr/>
          <p:nvPr/>
        </p:nvSpPr>
        <p:spPr>
          <a:xfrm>
            <a:off x="987552" y="457200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63044"/>
                </a:solidFill>
              </a:rPr>
              <a:t>Pensum Global Core Active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2651760" y="457200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0D2841"/>
                </a:solidFill>
              </a:rPr>
              <a:t>27,3%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804672" y="4882896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1F7A5B"/>
          </a:solidFill>
          <a:ln w="12700">
            <a:solidFill>
              <a:srgbClr val="1F7A5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5" name="Text 12"/>
          <p:cNvSpPr/>
          <p:nvPr/>
        </p:nvSpPr>
        <p:spPr>
          <a:xfrm>
            <a:off x="987552" y="483717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63044"/>
                </a:solidFill>
              </a:rPr>
              <a:t>Pensum Global Høyrente</a:t>
            </a:r>
            <a:endParaRPr lang="en-US" sz="780" dirty="0"/>
          </a:p>
        </p:txBody>
      </p:sp>
      <p:sp>
        <p:nvSpPr>
          <p:cNvPr id="16" name="Text 13"/>
          <p:cNvSpPr/>
          <p:nvPr/>
        </p:nvSpPr>
        <p:spPr>
          <a:xfrm>
            <a:off x="2651760" y="483717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0D2841"/>
                </a:solidFill>
              </a:rPr>
              <a:t>27,3%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804672" y="5148072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D3826A"/>
          </a:solidFill>
          <a:ln w="12700">
            <a:solidFill>
              <a:srgbClr val="D3826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8" name="Text 15"/>
          <p:cNvSpPr/>
          <p:nvPr/>
        </p:nvSpPr>
        <p:spPr>
          <a:xfrm>
            <a:off x="987552" y="51023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63044"/>
                </a:solidFill>
              </a:rPr>
              <a:t>Pensum Global Edge</a:t>
            </a:r>
            <a:endParaRPr lang="en-US" sz="780" dirty="0"/>
          </a:p>
        </p:txBody>
      </p:sp>
      <p:sp>
        <p:nvSpPr>
          <p:cNvPr id="19" name="Text 16"/>
          <p:cNvSpPr/>
          <p:nvPr/>
        </p:nvSpPr>
        <p:spPr>
          <a:xfrm>
            <a:off x="2651760" y="510235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0D2841"/>
                </a:solidFill>
              </a:rPr>
              <a:t>18,2%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804672" y="5413248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0D2841"/>
          </a:solidFill>
          <a:ln w="12700">
            <a:solidFill>
              <a:srgbClr val="0D2841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1" name="Text 18"/>
          <p:cNvSpPr/>
          <p:nvPr/>
        </p:nvSpPr>
        <p:spPr>
          <a:xfrm>
            <a:off x="987552" y="536752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63044"/>
                </a:solidFill>
              </a:rPr>
              <a:t>Pensum Norge A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2651760" y="536752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0D2841"/>
                </a:solidFill>
              </a:rPr>
              <a:t>18,2%</a:t>
            </a:r>
            <a:endParaRPr lang="en-US" sz="780" dirty="0"/>
          </a:p>
        </p:txBody>
      </p:sp>
      <p:sp>
        <p:nvSpPr>
          <p:cNvPr id="23" name="Shape 20"/>
          <p:cNvSpPr/>
          <p:nvPr/>
        </p:nvSpPr>
        <p:spPr>
          <a:xfrm>
            <a:off x="804672" y="5678424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4F8AA9"/>
          </a:solidFill>
          <a:ln w="12700">
            <a:solidFill>
              <a:srgbClr val="4F8AA9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4" name="Text 21"/>
          <p:cNvSpPr/>
          <p:nvPr/>
        </p:nvSpPr>
        <p:spPr>
          <a:xfrm>
            <a:off x="987552" y="563270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63044"/>
                </a:solidFill>
              </a:rPr>
              <a:t>Pensum Global Energy A</a:t>
            </a:r>
            <a:endParaRPr lang="en-US" sz="780" dirty="0"/>
          </a:p>
        </p:txBody>
      </p:sp>
      <p:sp>
        <p:nvSpPr>
          <p:cNvPr id="25" name="Text 22"/>
          <p:cNvSpPr/>
          <p:nvPr/>
        </p:nvSpPr>
        <p:spPr>
          <a:xfrm>
            <a:off x="2651760" y="563270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0D2841"/>
                </a:solidFill>
              </a:rPr>
              <a:t>9,0%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3694176" y="1609344"/>
            <a:ext cx="7991856" cy="4370832"/>
          </a:xfrm>
          <a:prstGeom prst="roundRect">
            <a:avLst>
              <a:gd name="adj" fmla="val 2929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27" name="Text 24"/>
          <p:cNvSpPr/>
          <p:nvPr/>
        </p:nvSpPr>
        <p:spPr>
          <a:xfrm>
            <a:off x="3913632" y="180136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841"/>
                </a:solidFill>
              </a:rPr>
              <a:t>Byggesteiner og roller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3913632" y="212140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667889"/>
                </a:solidFill>
              </a:rPr>
              <a:t>Produkt</a:t>
            </a:r>
            <a:endParaRPr lang="en-US" sz="870" dirty="0"/>
          </a:p>
        </p:txBody>
      </p:sp>
      <p:sp>
        <p:nvSpPr>
          <p:cNvPr id="29" name="Text 26"/>
          <p:cNvSpPr/>
          <p:nvPr/>
        </p:nvSpPr>
        <p:spPr>
          <a:xfrm>
            <a:off x="7360920" y="212140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667889"/>
                </a:solidFill>
              </a:rPr>
              <a:t>Vekt</a:t>
            </a:r>
            <a:endParaRPr lang="en-US" sz="870" dirty="0"/>
          </a:p>
        </p:txBody>
      </p:sp>
      <p:sp>
        <p:nvSpPr>
          <p:cNvPr id="30" name="Text 27"/>
          <p:cNvSpPr/>
          <p:nvPr/>
        </p:nvSpPr>
        <p:spPr>
          <a:xfrm>
            <a:off x="8183880" y="212140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667889"/>
                </a:solidFill>
              </a:rPr>
              <a:t>Rolle</a:t>
            </a:r>
            <a:endParaRPr lang="en-US" sz="870" dirty="0"/>
          </a:p>
        </p:txBody>
      </p:sp>
      <p:sp>
        <p:nvSpPr>
          <p:cNvPr id="31" name="Text 28"/>
          <p:cNvSpPr/>
          <p:nvPr/>
        </p:nvSpPr>
        <p:spPr>
          <a:xfrm>
            <a:off x="9015984" y="21214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b="1" dirty="0">
                <a:solidFill>
                  <a:srgbClr val="667889"/>
                </a:solidFill>
              </a:rPr>
              <a:t>Forv. avkastning</a:t>
            </a:r>
            <a:endParaRPr lang="en-US" sz="870" dirty="0"/>
          </a:p>
        </p:txBody>
      </p:sp>
      <p:sp>
        <p:nvSpPr>
          <p:cNvPr id="32" name="Text 29"/>
          <p:cNvSpPr/>
          <p:nvPr/>
        </p:nvSpPr>
        <p:spPr>
          <a:xfrm>
            <a:off x="10369296" y="212140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b="1" dirty="0">
                <a:solidFill>
                  <a:srgbClr val="667889"/>
                </a:solidFill>
              </a:rPr>
              <a:t>Volatilitet</a:t>
            </a:r>
            <a:endParaRPr lang="en-US" sz="870" dirty="0"/>
          </a:p>
        </p:txBody>
      </p:sp>
      <p:sp>
        <p:nvSpPr>
          <p:cNvPr id="33" name="Text 30"/>
          <p:cNvSpPr/>
          <p:nvPr/>
        </p:nvSpPr>
        <p:spPr>
          <a:xfrm>
            <a:off x="3913632" y="2441448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163044"/>
                </a:solidFill>
              </a:rPr>
              <a:t>Pensum Global Core Active</a:t>
            </a:r>
            <a:endParaRPr lang="en-US" sz="1020" dirty="0"/>
          </a:p>
        </p:txBody>
      </p:sp>
      <p:sp>
        <p:nvSpPr>
          <p:cNvPr id="34" name="Text 31"/>
          <p:cNvSpPr/>
          <p:nvPr/>
        </p:nvSpPr>
        <p:spPr>
          <a:xfrm>
            <a:off x="3913632" y="26334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667889"/>
                </a:solidFill>
              </a:rPr>
              <a:t>Global basiseksponering og hovedmotor i aksjedelen</a:t>
            </a:r>
            <a:endParaRPr lang="en-US" sz="830" dirty="0"/>
          </a:p>
        </p:txBody>
      </p:sp>
      <p:sp>
        <p:nvSpPr>
          <p:cNvPr id="35" name="Text 32"/>
          <p:cNvSpPr/>
          <p:nvPr/>
        </p:nvSpPr>
        <p:spPr>
          <a:xfrm>
            <a:off x="7360920" y="246888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0D2841"/>
                </a:solidFill>
              </a:rPr>
              <a:t>27,3%</a:t>
            </a:r>
            <a:endParaRPr lang="en-US" sz="1020" dirty="0"/>
          </a:p>
        </p:txBody>
      </p:sp>
      <p:sp>
        <p:nvSpPr>
          <p:cNvPr id="36" name="Shape 33"/>
          <p:cNvSpPr/>
          <p:nvPr/>
        </p:nvSpPr>
        <p:spPr>
          <a:xfrm>
            <a:off x="8183880" y="2432304"/>
            <a:ext cx="749808" cy="219456"/>
          </a:xfrm>
          <a:prstGeom prst="roundRect">
            <a:avLst>
              <a:gd name="adj" fmla="val 41667"/>
            </a:avLst>
          </a:prstGeom>
          <a:solidFill>
            <a:srgbClr val="123E6A"/>
          </a:solidFill>
          <a:ln w="12700">
            <a:solidFill>
              <a:srgbClr val="123E6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7" name="Text 34"/>
          <p:cNvSpPr/>
          <p:nvPr/>
        </p:nvSpPr>
        <p:spPr>
          <a:xfrm>
            <a:off x="8202168" y="2450592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KJERNE</a:t>
            </a:r>
            <a:endParaRPr lang="en-US" sz="720" dirty="0"/>
          </a:p>
        </p:txBody>
      </p:sp>
      <p:sp>
        <p:nvSpPr>
          <p:cNvPr id="38" name="Text 35"/>
          <p:cNvSpPr/>
          <p:nvPr/>
        </p:nvSpPr>
        <p:spPr>
          <a:xfrm>
            <a:off x="9015984" y="24688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20" b="1" dirty="0">
                <a:solidFill>
                  <a:srgbClr val="163044"/>
                </a:solidFill>
              </a:rPr>
              <a:t>10,0%</a:t>
            </a:r>
            <a:endParaRPr lang="en-US" sz="1020" dirty="0"/>
          </a:p>
        </p:txBody>
      </p:sp>
      <p:sp>
        <p:nvSpPr>
          <p:cNvPr id="39" name="Text 36"/>
          <p:cNvSpPr/>
          <p:nvPr/>
        </p:nvSpPr>
        <p:spPr>
          <a:xfrm>
            <a:off x="10369296" y="246888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20" b="1" dirty="0">
                <a:solidFill>
                  <a:srgbClr val="163044"/>
                </a:solidFill>
              </a:rPr>
              <a:t>10,5%</a:t>
            </a:r>
            <a:endParaRPr lang="en-US" sz="1020" dirty="0"/>
          </a:p>
        </p:txBody>
      </p:sp>
      <p:sp>
        <p:nvSpPr>
          <p:cNvPr id="40" name="Shape 37"/>
          <p:cNvSpPr/>
          <p:nvPr/>
        </p:nvSpPr>
        <p:spPr>
          <a:xfrm>
            <a:off x="3913632" y="3063240"/>
            <a:ext cx="7333488" cy="0"/>
          </a:xfrm>
          <a:prstGeom prst="line">
            <a:avLst/>
          </a:prstGeom>
          <a:noFill/>
          <a:ln w="12700">
            <a:solidFill>
              <a:srgbClr val="E7ECF1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41" name="Text 38"/>
          <p:cNvSpPr/>
          <p:nvPr/>
        </p:nvSpPr>
        <p:spPr>
          <a:xfrm>
            <a:off x="3913632" y="3163824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163044"/>
                </a:solidFill>
              </a:rPr>
              <a:t>Pensum Global Høyrente</a:t>
            </a:r>
            <a:endParaRPr lang="en-US" sz="1020" dirty="0"/>
          </a:p>
        </p:txBody>
      </p:sp>
      <p:sp>
        <p:nvSpPr>
          <p:cNvPr id="42" name="Text 39"/>
          <p:cNvSpPr/>
          <p:nvPr/>
        </p:nvSpPr>
        <p:spPr>
          <a:xfrm>
            <a:off x="3913632" y="335584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667889"/>
                </a:solidFill>
              </a:rPr>
              <a:t>Stabiliserer porteføljen med løpende renteinntekter</a:t>
            </a:r>
            <a:endParaRPr lang="en-US" sz="830" dirty="0"/>
          </a:p>
        </p:txBody>
      </p:sp>
      <p:sp>
        <p:nvSpPr>
          <p:cNvPr id="43" name="Text 40"/>
          <p:cNvSpPr/>
          <p:nvPr/>
        </p:nvSpPr>
        <p:spPr>
          <a:xfrm>
            <a:off x="7360920" y="3191256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0D2841"/>
                </a:solidFill>
              </a:rPr>
              <a:t>27,3%</a:t>
            </a:r>
            <a:endParaRPr lang="en-US" sz="1020" dirty="0"/>
          </a:p>
        </p:txBody>
      </p:sp>
      <p:sp>
        <p:nvSpPr>
          <p:cNvPr id="44" name="Shape 41"/>
          <p:cNvSpPr/>
          <p:nvPr/>
        </p:nvSpPr>
        <p:spPr>
          <a:xfrm>
            <a:off x="8183880" y="3154680"/>
            <a:ext cx="749808" cy="219456"/>
          </a:xfrm>
          <a:prstGeom prst="roundRect">
            <a:avLst>
              <a:gd name="adj" fmla="val 41667"/>
            </a:avLst>
          </a:prstGeom>
          <a:solidFill>
            <a:srgbClr val="1F7A5B"/>
          </a:solidFill>
          <a:ln w="12700">
            <a:solidFill>
              <a:srgbClr val="1F7A5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45" name="Text 42"/>
          <p:cNvSpPr/>
          <p:nvPr/>
        </p:nvSpPr>
        <p:spPr>
          <a:xfrm>
            <a:off x="8202168" y="3172968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RENTER</a:t>
            </a:r>
            <a:endParaRPr lang="en-US" sz="720" dirty="0"/>
          </a:p>
        </p:txBody>
      </p:sp>
      <p:sp>
        <p:nvSpPr>
          <p:cNvPr id="46" name="Text 43"/>
          <p:cNvSpPr/>
          <p:nvPr/>
        </p:nvSpPr>
        <p:spPr>
          <a:xfrm>
            <a:off x="9015984" y="319125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20" b="1" dirty="0">
                <a:solidFill>
                  <a:srgbClr val="163044"/>
                </a:solidFill>
              </a:rPr>
              <a:t>7,5%</a:t>
            </a:r>
            <a:endParaRPr lang="en-US" sz="1020" dirty="0"/>
          </a:p>
        </p:txBody>
      </p:sp>
      <p:sp>
        <p:nvSpPr>
          <p:cNvPr id="47" name="Text 44"/>
          <p:cNvSpPr/>
          <p:nvPr/>
        </p:nvSpPr>
        <p:spPr>
          <a:xfrm>
            <a:off x="10369296" y="319125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20" b="1" dirty="0">
                <a:solidFill>
                  <a:srgbClr val="163044"/>
                </a:solidFill>
              </a:rPr>
              <a:t>5,7%</a:t>
            </a:r>
            <a:endParaRPr lang="en-US" sz="1020" dirty="0"/>
          </a:p>
        </p:txBody>
      </p:sp>
      <p:sp>
        <p:nvSpPr>
          <p:cNvPr id="48" name="Shape 45"/>
          <p:cNvSpPr/>
          <p:nvPr/>
        </p:nvSpPr>
        <p:spPr>
          <a:xfrm>
            <a:off x="3913632" y="3785616"/>
            <a:ext cx="7333488" cy="0"/>
          </a:xfrm>
          <a:prstGeom prst="line">
            <a:avLst/>
          </a:prstGeom>
          <a:noFill/>
          <a:ln w="12700">
            <a:solidFill>
              <a:srgbClr val="E7ECF1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49" name="Text 46"/>
          <p:cNvSpPr/>
          <p:nvPr/>
        </p:nvSpPr>
        <p:spPr>
          <a:xfrm>
            <a:off x="3913632" y="3886200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163044"/>
                </a:solidFill>
              </a:rPr>
              <a:t>Pensum Global Edge</a:t>
            </a:r>
            <a:endParaRPr lang="en-US" sz="1020" dirty="0"/>
          </a:p>
        </p:txBody>
      </p:sp>
      <p:sp>
        <p:nvSpPr>
          <p:cNvPr id="50" name="Text 47"/>
          <p:cNvSpPr/>
          <p:nvPr/>
        </p:nvSpPr>
        <p:spPr>
          <a:xfrm>
            <a:off x="3913632" y="407822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667889"/>
                </a:solidFill>
              </a:rPr>
              <a:t>Mer aktiv og spisset global aksjeløsning</a:t>
            </a:r>
            <a:endParaRPr lang="en-US" sz="830" dirty="0"/>
          </a:p>
        </p:txBody>
      </p:sp>
      <p:sp>
        <p:nvSpPr>
          <p:cNvPr id="51" name="Text 48"/>
          <p:cNvSpPr/>
          <p:nvPr/>
        </p:nvSpPr>
        <p:spPr>
          <a:xfrm>
            <a:off x="7360920" y="391363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0D2841"/>
                </a:solidFill>
              </a:rPr>
              <a:t>18,2%</a:t>
            </a:r>
            <a:endParaRPr lang="en-US" sz="1020" dirty="0"/>
          </a:p>
        </p:txBody>
      </p:sp>
      <p:sp>
        <p:nvSpPr>
          <p:cNvPr id="52" name="Shape 49"/>
          <p:cNvSpPr/>
          <p:nvPr/>
        </p:nvSpPr>
        <p:spPr>
          <a:xfrm>
            <a:off x="8183880" y="3877056"/>
            <a:ext cx="877824" cy="219456"/>
          </a:xfrm>
          <a:prstGeom prst="roundRect">
            <a:avLst>
              <a:gd name="adj" fmla="val 41667"/>
            </a:avLst>
          </a:prstGeom>
          <a:solidFill>
            <a:srgbClr val="D3826A"/>
          </a:solidFill>
          <a:ln w="12700">
            <a:solidFill>
              <a:srgbClr val="D3826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53" name="Text 50"/>
          <p:cNvSpPr/>
          <p:nvPr/>
        </p:nvSpPr>
        <p:spPr>
          <a:xfrm>
            <a:off x="8202168" y="3895344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SATELLITT</a:t>
            </a:r>
            <a:endParaRPr lang="en-US" sz="720" dirty="0"/>
          </a:p>
        </p:txBody>
      </p:sp>
      <p:sp>
        <p:nvSpPr>
          <p:cNvPr id="54" name="Text 51"/>
          <p:cNvSpPr/>
          <p:nvPr/>
        </p:nvSpPr>
        <p:spPr>
          <a:xfrm>
            <a:off x="9015984" y="39136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20" b="1" dirty="0">
                <a:solidFill>
                  <a:srgbClr val="163044"/>
                </a:solidFill>
              </a:rPr>
              <a:t>10,5%</a:t>
            </a:r>
            <a:endParaRPr lang="en-US" sz="1020" dirty="0"/>
          </a:p>
        </p:txBody>
      </p:sp>
      <p:sp>
        <p:nvSpPr>
          <p:cNvPr id="55" name="Text 52"/>
          <p:cNvSpPr/>
          <p:nvPr/>
        </p:nvSpPr>
        <p:spPr>
          <a:xfrm>
            <a:off x="10369296" y="39136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20" b="1" dirty="0">
                <a:solidFill>
                  <a:srgbClr val="163044"/>
                </a:solidFill>
              </a:rPr>
              <a:t>9,4%</a:t>
            </a:r>
            <a:endParaRPr lang="en-US" sz="1020" dirty="0"/>
          </a:p>
        </p:txBody>
      </p:sp>
      <p:sp>
        <p:nvSpPr>
          <p:cNvPr id="56" name="Shape 53"/>
          <p:cNvSpPr/>
          <p:nvPr/>
        </p:nvSpPr>
        <p:spPr>
          <a:xfrm>
            <a:off x="3913632" y="4507992"/>
            <a:ext cx="7333488" cy="0"/>
          </a:xfrm>
          <a:prstGeom prst="line">
            <a:avLst/>
          </a:prstGeom>
          <a:noFill/>
          <a:ln w="12700">
            <a:solidFill>
              <a:srgbClr val="E7ECF1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57" name="Text 54"/>
          <p:cNvSpPr/>
          <p:nvPr/>
        </p:nvSpPr>
        <p:spPr>
          <a:xfrm>
            <a:off x="3913632" y="4608576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163044"/>
                </a:solidFill>
              </a:rPr>
              <a:t>Pensum Norge A</a:t>
            </a:r>
            <a:endParaRPr lang="en-US" sz="1020" dirty="0"/>
          </a:p>
        </p:txBody>
      </p:sp>
      <p:sp>
        <p:nvSpPr>
          <p:cNvPr id="58" name="Text 55"/>
          <p:cNvSpPr/>
          <p:nvPr/>
        </p:nvSpPr>
        <p:spPr>
          <a:xfrm>
            <a:off x="3913632" y="48006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667889"/>
                </a:solidFill>
              </a:rPr>
              <a:t>Aktiv norsk eksponering og lokal markedskunnskap</a:t>
            </a:r>
            <a:endParaRPr lang="en-US" sz="830" dirty="0"/>
          </a:p>
        </p:txBody>
      </p:sp>
      <p:sp>
        <p:nvSpPr>
          <p:cNvPr id="59" name="Text 56"/>
          <p:cNvSpPr/>
          <p:nvPr/>
        </p:nvSpPr>
        <p:spPr>
          <a:xfrm>
            <a:off x="7360920" y="463600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0D2841"/>
                </a:solidFill>
              </a:rPr>
              <a:t>18,2%</a:t>
            </a:r>
            <a:endParaRPr lang="en-US" sz="1020" dirty="0"/>
          </a:p>
        </p:txBody>
      </p:sp>
      <p:sp>
        <p:nvSpPr>
          <p:cNvPr id="60" name="Shape 57"/>
          <p:cNvSpPr/>
          <p:nvPr/>
        </p:nvSpPr>
        <p:spPr>
          <a:xfrm>
            <a:off x="8183880" y="4599432"/>
            <a:ext cx="749808" cy="219456"/>
          </a:xfrm>
          <a:prstGeom prst="roundRect">
            <a:avLst>
              <a:gd name="adj" fmla="val 41667"/>
            </a:avLst>
          </a:prstGeom>
          <a:solidFill>
            <a:srgbClr val="0D2841"/>
          </a:solidFill>
          <a:ln w="12700">
            <a:solidFill>
              <a:srgbClr val="0D2841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61" name="Text 58"/>
          <p:cNvSpPr/>
          <p:nvPr/>
        </p:nvSpPr>
        <p:spPr>
          <a:xfrm>
            <a:off x="8202168" y="4617720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NORGE</a:t>
            </a:r>
            <a:endParaRPr lang="en-US" sz="720" dirty="0"/>
          </a:p>
        </p:txBody>
      </p:sp>
      <p:sp>
        <p:nvSpPr>
          <p:cNvPr id="62" name="Text 59"/>
          <p:cNvSpPr/>
          <p:nvPr/>
        </p:nvSpPr>
        <p:spPr>
          <a:xfrm>
            <a:off x="9015984" y="46360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20" b="1" dirty="0">
                <a:solidFill>
                  <a:srgbClr val="163044"/>
                </a:solidFill>
              </a:rPr>
              <a:t>11,0%</a:t>
            </a:r>
            <a:endParaRPr lang="en-US" sz="1020" dirty="0"/>
          </a:p>
        </p:txBody>
      </p:sp>
      <p:sp>
        <p:nvSpPr>
          <p:cNvPr id="63" name="Text 60"/>
          <p:cNvSpPr/>
          <p:nvPr/>
        </p:nvSpPr>
        <p:spPr>
          <a:xfrm>
            <a:off x="10369296" y="463600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20" b="1" dirty="0">
                <a:solidFill>
                  <a:srgbClr val="163044"/>
                </a:solidFill>
              </a:rPr>
              <a:t>16,8%</a:t>
            </a:r>
            <a:endParaRPr lang="en-US" sz="1020" dirty="0"/>
          </a:p>
        </p:txBody>
      </p:sp>
      <p:sp>
        <p:nvSpPr>
          <p:cNvPr id="64" name="Shape 61"/>
          <p:cNvSpPr/>
          <p:nvPr/>
        </p:nvSpPr>
        <p:spPr>
          <a:xfrm>
            <a:off x="3913632" y="5230368"/>
            <a:ext cx="7333488" cy="0"/>
          </a:xfrm>
          <a:prstGeom prst="line">
            <a:avLst/>
          </a:prstGeom>
          <a:noFill/>
          <a:ln w="12700">
            <a:solidFill>
              <a:srgbClr val="E7ECF1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65" name="Text 62"/>
          <p:cNvSpPr/>
          <p:nvPr/>
        </p:nvSpPr>
        <p:spPr>
          <a:xfrm>
            <a:off x="3913632" y="533095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163044"/>
                </a:solidFill>
              </a:rPr>
              <a:t>Pensum Global Energy A</a:t>
            </a:r>
            <a:endParaRPr lang="en-US" sz="1020" dirty="0"/>
          </a:p>
        </p:txBody>
      </p:sp>
      <p:sp>
        <p:nvSpPr>
          <p:cNvPr id="66" name="Text 63"/>
          <p:cNvSpPr/>
          <p:nvPr/>
        </p:nvSpPr>
        <p:spPr>
          <a:xfrm>
            <a:off x="3913632" y="552297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667889"/>
                </a:solidFill>
              </a:rPr>
              <a:t>Mindre tematisk satellitt mot energi og råvarer</a:t>
            </a:r>
            <a:endParaRPr lang="en-US" sz="830" dirty="0"/>
          </a:p>
        </p:txBody>
      </p:sp>
      <p:sp>
        <p:nvSpPr>
          <p:cNvPr id="67" name="Text 64"/>
          <p:cNvSpPr/>
          <p:nvPr/>
        </p:nvSpPr>
        <p:spPr>
          <a:xfrm>
            <a:off x="7360920" y="535838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0D2841"/>
                </a:solidFill>
              </a:rPr>
              <a:t>9,0%</a:t>
            </a:r>
            <a:endParaRPr lang="en-US" sz="1020" dirty="0"/>
          </a:p>
        </p:txBody>
      </p:sp>
      <p:sp>
        <p:nvSpPr>
          <p:cNvPr id="68" name="Shape 65"/>
          <p:cNvSpPr/>
          <p:nvPr/>
        </p:nvSpPr>
        <p:spPr>
          <a:xfrm>
            <a:off x="8183880" y="5321808"/>
            <a:ext cx="896112" cy="219456"/>
          </a:xfrm>
          <a:prstGeom prst="roundRect">
            <a:avLst>
              <a:gd name="adj" fmla="val 41667"/>
            </a:avLst>
          </a:prstGeom>
          <a:solidFill>
            <a:srgbClr val="4F8AA9"/>
          </a:solidFill>
          <a:ln w="12700">
            <a:solidFill>
              <a:srgbClr val="4F8AA9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69" name="Text 66"/>
          <p:cNvSpPr/>
          <p:nvPr/>
        </p:nvSpPr>
        <p:spPr>
          <a:xfrm>
            <a:off x="8202168" y="5340096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TEMATISK</a:t>
            </a:r>
            <a:endParaRPr lang="en-US" sz="720" dirty="0"/>
          </a:p>
        </p:txBody>
      </p:sp>
      <p:sp>
        <p:nvSpPr>
          <p:cNvPr id="70" name="Text 67"/>
          <p:cNvSpPr/>
          <p:nvPr/>
        </p:nvSpPr>
        <p:spPr>
          <a:xfrm>
            <a:off x="9015984" y="535838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20" b="1" dirty="0">
                <a:solidFill>
                  <a:srgbClr val="163044"/>
                </a:solidFill>
              </a:rPr>
              <a:t>11,0%</a:t>
            </a:r>
            <a:endParaRPr lang="en-US" sz="1020" dirty="0"/>
          </a:p>
        </p:txBody>
      </p:sp>
      <p:sp>
        <p:nvSpPr>
          <p:cNvPr id="71" name="Text 68"/>
          <p:cNvSpPr/>
          <p:nvPr/>
        </p:nvSpPr>
        <p:spPr>
          <a:xfrm>
            <a:off x="10369296" y="535838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20" b="1" dirty="0">
                <a:solidFill>
                  <a:srgbClr val="163044"/>
                </a:solidFill>
              </a:rPr>
              <a:t>22,6%</a:t>
            </a:r>
            <a:endParaRPr lang="en-US" sz="1020" dirty="0"/>
          </a:p>
        </p:txBody>
      </p:sp>
      <p:sp>
        <p:nvSpPr>
          <p:cNvPr id="72" name="Shape 69"/>
          <p:cNvSpPr/>
          <p:nvPr/>
        </p:nvSpPr>
        <p:spPr>
          <a:xfrm>
            <a:off x="512064" y="6464808"/>
            <a:ext cx="11167567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73" name="Text 70"/>
          <p:cNvSpPr/>
          <p:nvPr/>
        </p:nvSpPr>
        <p:spPr>
          <a:xfrm>
            <a:off x="512064" y="6556248"/>
            <a:ext cx="9784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67889"/>
                </a:solidFill>
              </a:rPr>
              <a:t>Illustrasjonen er ment som en oppsummering av en modellportefølje og er ikke personlig investeringsrådgivning.</a:t>
            </a:r>
            <a:endParaRPr lang="en-US" sz="720" dirty="0"/>
          </a:p>
        </p:txBody>
      </p:sp>
      <p:sp>
        <p:nvSpPr>
          <p:cNvPr id="74" name="Text 71"/>
          <p:cNvSpPr/>
          <p:nvPr/>
        </p:nvSpPr>
        <p:spPr>
          <a:xfrm>
            <a:off x="11451031" y="654710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667889"/>
                </a:solidFill>
              </a:rPr>
              <a:t>3</a:t>
            </a:r>
            <a:endParaRPr lang="en-US" sz="7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560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284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PENSUM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929384" y="283464"/>
            <a:ext cx="9144" cy="201168"/>
          </a:xfrm>
          <a:prstGeom prst="line">
            <a:avLst/>
          </a:prstGeom>
          <a:noFill/>
          <a:ln w="12700">
            <a:solidFill>
              <a:srgbClr val="D3826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4" name="Text 2"/>
          <p:cNvSpPr/>
          <p:nvPr/>
        </p:nvSpPr>
        <p:spPr>
          <a:xfrm>
            <a:off x="2048256" y="28346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88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ASSET MANAGEMENT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485071" y="29260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4F8AA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ILLUSTRATIV OPPSUMMERING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D284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Hvordan porteføljen er bygget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12064" y="1316736"/>
            <a:ext cx="11167567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8" name="Shape 6"/>
          <p:cNvSpPr/>
          <p:nvPr/>
        </p:nvSpPr>
        <p:spPr>
          <a:xfrm>
            <a:off x="512064" y="1700784"/>
            <a:ext cx="3648456" cy="4224528"/>
          </a:xfrm>
          <a:prstGeom prst="roundRect">
            <a:avLst>
              <a:gd name="adj" fmla="val 3509"/>
            </a:avLst>
          </a:prstGeom>
          <a:solidFill>
            <a:srgbClr val="F8FBFD"/>
          </a:solidFill>
          <a:ln w="12700">
            <a:solidFill>
              <a:srgbClr val="D5E0E8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9" name="Shape 7"/>
          <p:cNvSpPr/>
          <p:nvPr/>
        </p:nvSpPr>
        <p:spPr>
          <a:xfrm>
            <a:off x="676656" y="1865376"/>
            <a:ext cx="109728" cy="3895344"/>
          </a:xfrm>
          <a:prstGeom prst="roundRect">
            <a:avLst>
              <a:gd name="adj" fmla="val 50000"/>
            </a:avLst>
          </a:prstGeom>
          <a:solidFill>
            <a:srgbClr val="123E6A"/>
          </a:solidFill>
          <a:ln w="12700">
            <a:solidFill>
              <a:srgbClr val="123E6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0" name="Shape 8"/>
          <p:cNvSpPr/>
          <p:nvPr/>
        </p:nvSpPr>
        <p:spPr>
          <a:xfrm>
            <a:off x="896112" y="1938528"/>
            <a:ext cx="786384" cy="219456"/>
          </a:xfrm>
          <a:prstGeom prst="roundRect">
            <a:avLst>
              <a:gd name="adj" fmla="val 41667"/>
            </a:avLst>
          </a:prstGeom>
          <a:solidFill>
            <a:srgbClr val="123E6A"/>
          </a:solidFill>
          <a:ln w="12700">
            <a:solidFill>
              <a:srgbClr val="123E6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1" name="Text 9"/>
          <p:cNvSpPr/>
          <p:nvPr/>
        </p:nvSpPr>
        <p:spPr>
          <a:xfrm>
            <a:off x="914400" y="1956816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KJERNE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2841"/>
                </a:solidFill>
              </a:rPr>
              <a:t>27,3%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020824" y="2377440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889"/>
                </a:solidFill>
              </a:rPr>
              <a:t>av porteføljen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96112" y="27614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63044"/>
                </a:solidFill>
              </a:rPr>
              <a:t>Pensum Global Core Active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896112" y="3072384"/>
            <a:ext cx="28712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163044"/>
                </a:solidFill>
              </a:rPr>
              <a:t>Bred global aksjeeksponering med aktiv fondsseleksjon. Denne byggesteinen skal bære hoveddelen av aksjedelens langsiktige verdiskaping.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896112" y="4041648"/>
            <a:ext cx="2816352" cy="0"/>
          </a:xfrm>
          <a:prstGeom prst="line">
            <a:avLst/>
          </a:prstGeom>
          <a:noFill/>
          <a:ln w="12700">
            <a:solidFill>
              <a:srgbClr val="D5E0E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7" name="Text 15"/>
          <p:cNvSpPr/>
          <p:nvPr/>
        </p:nvSpPr>
        <p:spPr>
          <a:xfrm>
            <a:off x="896112" y="420624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667889"/>
                </a:solidFill>
              </a:rPr>
              <a:t>Dette skal byggesteinen bidra med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914400" y="4526280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23E6A"/>
          </a:solidFill>
          <a:ln w="12700">
            <a:solidFill>
              <a:srgbClr val="123E6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9" name="Text 17"/>
          <p:cNvSpPr/>
          <p:nvPr/>
        </p:nvSpPr>
        <p:spPr>
          <a:xfrm>
            <a:off x="1115568" y="449884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dirty="0">
                <a:solidFill>
                  <a:srgbClr val="163044"/>
                </a:solidFill>
              </a:rPr>
              <a:t>Global basiseksponering</a:t>
            </a:r>
            <a:endParaRPr lang="en-US" sz="910" dirty="0"/>
          </a:p>
        </p:txBody>
      </p:sp>
      <p:sp>
        <p:nvSpPr>
          <p:cNvPr id="20" name="Shape 18"/>
          <p:cNvSpPr/>
          <p:nvPr/>
        </p:nvSpPr>
        <p:spPr>
          <a:xfrm>
            <a:off x="914400" y="500176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23E6A"/>
          </a:solidFill>
          <a:ln w="12700">
            <a:solidFill>
              <a:srgbClr val="123E6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1" name="Text 19"/>
          <p:cNvSpPr/>
          <p:nvPr/>
        </p:nvSpPr>
        <p:spPr>
          <a:xfrm>
            <a:off x="1115568" y="497433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dirty="0">
                <a:solidFill>
                  <a:srgbClr val="163044"/>
                </a:solidFill>
              </a:rPr>
              <a:t>God forvalterdiversifisering</a:t>
            </a:r>
            <a:endParaRPr lang="en-US" sz="910" dirty="0"/>
          </a:p>
        </p:txBody>
      </p:sp>
      <p:sp>
        <p:nvSpPr>
          <p:cNvPr id="22" name="Shape 20"/>
          <p:cNvSpPr/>
          <p:nvPr/>
        </p:nvSpPr>
        <p:spPr>
          <a:xfrm>
            <a:off x="914400" y="547725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23E6A"/>
          </a:solidFill>
          <a:ln w="12700">
            <a:solidFill>
              <a:srgbClr val="123E6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3" name="Text 21"/>
          <p:cNvSpPr/>
          <p:nvPr/>
        </p:nvSpPr>
        <p:spPr>
          <a:xfrm>
            <a:off x="1115568" y="544982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dirty="0">
                <a:solidFill>
                  <a:srgbClr val="163044"/>
                </a:solidFill>
              </a:rPr>
              <a:t>Tydelig rolle som hovedmotor</a:t>
            </a:r>
            <a:endParaRPr lang="en-US" sz="910" dirty="0"/>
          </a:p>
        </p:txBody>
      </p:sp>
      <p:sp>
        <p:nvSpPr>
          <p:cNvPr id="24" name="Shape 22"/>
          <p:cNvSpPr/>
          <p:nvPr/>
        </p:nvSpPr>
        <p:spPr>
          <a:xfrm>
            <a:off x="4352544" y="1700784"/>
            <a:ext cx="3648456" cy="4224528"/>
          </a:xfrm>
          <a:prstGeom prst="roundRect">
            <a:avLst>
              <a:gd name="adj" fmla="val 3509"/>
            </a:avLst>
          </a:prstGeom>
          <a:solidFill>
            <a:srgbClr val="F6FBF8"/>
          </a:solidFill>
          <a:ln w="12700">
            <a:solidFill>
              <a:srgbClr val="D7E8DF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25" name="Shape 23"/>
          <p:cNvSpPr/>
          <p:nvPr/>
        </p:nvSpPr>
        <p:spPr>
          <a:xfrm>
            <a:off x="4517136" y="1865376"/>
            <a:ext cx="109728" cy="3895344"/>
          </a:xfrm>
          <a:prstGeom prst="roundRect">
            <a:avLst>
              <a:gd name="adj" fmla="val 50000"/>
            </a:avLst>
          </a:prstGeom>
          <a:solidFill>
            <a:srgbClr val="1F7A5B"/>
          </a:solidFill>
          <a:ln w="12700">
            <a:solidFill>
              <a:srgbClr val="1F7A5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6" name="Shape 24"/>
          <p:cNvSpPr/>
          <p:nvPr/>
        </p:nvSpPr>
        <p:spPr>
          <a:xfrm>
            <a:off x="4736592" y="1938528"/>
            <a:ext cx="923544" cy="219456"/>
          </a:xfrm>
          <a:prstGeom prst="roundRect">
            <a:avLst>
              <a:gd name="adj" fmla="val 41667"/>
            </a:avLst>
          </a:prstGeom>
          <a:solidFill>
            <a:srgbClr val="1F7A5B"/>
          </a:solidFill>
          <a:ln w="12700">
            <a:solidFill>
              <a:srgbClr val="1F7A5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7" name="Text 25"/>
          <p:cNvSpPr/>
          <p:nvPr/>
        </p:nvSpPr>
        <p:spPr>
          <a:xfrm>
            <a:off x="4754880" y="1956816"/>
            <a:ext cx="886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STABILISATOR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4736592" y="23042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2841"/>
                </a:solidFill>
              </a:rPr>
              <a:t>27,3%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861304" y="2377440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889"/>
                </a:solidFill>
              </a:rPr>
              <a:t>av porteføljen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36592" y="27614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63044"/>
                </a:solidFill>
              </a:rPr>
              <a:t>Pensum Global Høyrente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4736592" y="3072384"/>
            <a:ext cx="28712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163044"/>
                </a:solidFill>
              </a:rPr>
              <a:t>Rentedelen skal bidra med løpende kontantstrøm og lavere volatilitet enn aksjer. Den fungerer som buffer i totalporteføljen.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4736592" y="4041648"/>
            <a:ext cx="2816352" cy="0"/>
          </a:xfrm>
          <a:prstGeom prst="line">
            <a:avLst/>
          </a:prstGeom>
          <a:noFill/>
          <a:ln w="12700">
            <a:solidFill>
              <a:srgbClr val="D7E8D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3" name="Text 31"/>
          <p:cNvSpPr/>
          <p:nvPr/>
        </p:nvSpPr>
        <p:spPr>
          <a:xfrm>
            <a:off x="4736592" y="420624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667889"/>
                </a:solidFill>
              </a:rPr>
              <a:t>Dette skal byggesteinen bidra med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4754880" y="4526280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F7A5B"/>
          </a:solidFill>
          <a:ln w="12700">
            <a:solidFill>
              <a:srgbClr val="1F7A5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5" name="Text 33"/>
          <p:cNvSpPr/>
          <p:nvPr/>
        </p:nvSpPr>
        <p:spPr>
          <a:xfrm>
            <a:off x="4956048" y="449884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dirty="0">
                <a:solidFill>
                  <a:srgbClr val="163044"/>
                </a:solidFill>
              </a:rPr>
              <a:t>Forv. yield 7,0%</a:t>
            </a:r>
            <a:endParaRPr lang="en-US" sz="910" dirty="0"/>
          </a:p>
        </p:txBody>
      </p:sp>
      <p:sp>
        <p:nvSpPr>
          <p:cNvPr id="36" name="Shape 34"/>
          <p:cNvSpPr/>
          <p:nvPr/>
        </p:nvSpPr>
        <p:spPr>
          <a:xfrm>
            <a:off x="4754880" y="500176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F7A5B"/>
          </a:solidFill>
          <a:ln w="12700">
            <a:solidFill>
              <a:srgbClr val="1F7A5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7" name="Text 35"/>
          <p:cNvSpPr/>
          <p:nvPr/>
        </p:nvSpPr>
        <p:spPr>
          <a:xfrm>
            <a:off x="4956048" y="497433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dirty="0">
                <a:solidFill>
                  <a:srgbClr val="163044"/>
                </a:solidFill>
              </a:rPr>
              <a:t>Lavere svingninger enn aksjer</a:t>
            </a:r>
            <a:endParaRPr lang="en-US" sz="910" dirty="0"/>
          </a:p>
        </p:txBody>
      </p:sp>
      <p:sp>
        <p:nvSpPr>
          <p:cNvPr id="38" name="Shape 36"/>
          <p:cNvSpPr/>
          <p:nvPr/>
        </p:nvSpPr>
        <p:spPr>
          <a:xfrm>
            <a:off x="4754880" y="547725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F7A5B"/>
          </a:solidFill>
          <a:ln w="12700">
            <a:solidFill>
              <a:srgbClr val="1F7A5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9" name="Text 37"/>
          <p:cNvSpPr/>
          <p:nvPr/>
        </p:nvSpPr>
        <p:spPr>
          <a:xfrm>
            <a:off x="4956048" y="544982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dirty="0">
                <a:solidFill>
                  <a:srgbClr val="163044"/>
                </a:solidFill>
              </a:rPr>
              <a:t>Demper total porteføljerisiko</a:t>
            </a:r>
            <a:endParaRPr lang="en-US" sz="910" dirty="0"/>
          </a:p>
        </p:txBody>
      </p:sp>
      <p:sp>
        <p:nvSpPr>
          <p:cNvPr id="40" name="Shape 38"/>
          <p:cNvSpPr/>
          <p:nvPr/>
        </p:nvSpPr>
        <p:spPr>
          <a:xfrm>
            <a:off x="8193024" y="1700784"/>
            <a:ext cx="3648456" cy="4224528"/>
          </a:xfrm>
          <a:prstGeom prst="roundRect">
            <a:avLst>
              <a:gd name="adj" fmla="val 3509"/>
            </a:avLst>
          </a:prstGeom>
          <a:solidFill>
            <a:srgbClr val="FFF9F6"/>
          </a:solidFill>
          <a:ln w="12700">
            <a:solidFill>
              <a:srgbClr val="F0D8CF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41" name="Shape 39"/>
          <p:cNvSpPr/>
          <p:nvPr/>
        </p:nvSpPr>
        <p:spPr>
          <a:xfrm>
            <a:off x="8357616" y="1865376"/>
            <a:ext cx="109728" cy="3895344"/>
          </a:xfrm>
          <a:prstGeom prst="roundRect">
            <a:avLst>
              <a:gd name="adj" fmla="val 50000"/>
            </a:avLst>
          </a:prstGeom>
          <a:solidFill>
            <a:srgbClr val="D3826A"/>
          </a:solidFill>
          <a:ln w="12700">
            <a:solidFill>
              <a:srgbClr val="D3826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42" name="Shape 40"/>
          <p:cNvSpPr/>
          <p:nvPr/>
        </p:nvSpPr>
        <p:spPr>
          <a:xfrm>
            <a:off x="8577072" y="1938528"/>
            <a:ext cx="786384" cy="219456"/>
          </a:xfrm>
          <a:prstGeom prst="roundRect">
            <a:avLst>
              <a:gd name="adj" fmla="val 41667"/>
            </a:avLst>
          </a:prstGeom>
          <a:solidFill>
            <a:srgbClr val="D3826A"/>
          </a:solidFill>
          <a:ln w="12700">
            <a:solidFill>
              <a:srgbClr val="D3826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43" name="Text 41"/>
          <p:cNvSpPr/>
          <p:nvPr/>
        </p:nvSpPr>
        <p:spPr>
          <a:xfrm>
            <a:off x="8595360" y="1956816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SATELLITTER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8577072" y="23042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2841"/>
                </a:solidFill>
              </a:rPr>
              <a:t>45,4%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9701784" y="2377440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889"/>
                </a:solidFill>
              </a:rPr>
              <a:t>av porteføljen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577072" y="27614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63044"/>
                </a:solidFill>
              </a:rPr>
              <a:t>Global Edge, Norge A og Global Energy A</a:t>
            </a:r>
            <a:endParaRPr lang="en-US" sz="1120" dirty="0"/>
          </a:p>
        </p:txBody>
      </p:sp>
      <p:sp>
        <p:nvSpPr>
          <p:cNvPr id="47" name="Text 45"/>
          <p:cNvSpPr/>
          <p:nvPr/>
        </p:nvSpPr>
        <p:spPr>
          <a:xfrm>
            <a:off x="8577072" y="3072384"/>
            <a:ext cx="28712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163044"/>
                </a:solidFill>
              </a:rPr>
              <a:t>Selektive tilleggsmandater brukes for å øke aktiv andel, styrke norske idéer og utnytte spesifikke markedsmuligheter.</a:t>
            </a:r>
            <a:endParaRPr lang="en-US" sz="920" dirty="0"/>
          </a:p>
        </p:txBody>
      </p:sp>
      <p:sp>
        <p:nvSpPr>
          <p:cNvPr id="48" name="Shape 46"/>
          <p:cNvSpPr/>
          <p:nvPr/>
        </p:nvSpPr>
        <p:spPr>
          <a:xfrm>
            <a:off x="8577072" y="4041648"/>
            <a:ext cx="2816352" cy="0"/>
          </a:xfrm>
          <a:prstGeom prst="line">
            <a:avLst/>
          </a:prstGeom>
          <a:noFill/>
          <a:ln w="12700">
            <a:solidFill>
              <a:srgbClr val="F0D8C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49" name="Text 47"/>
          <p:cNvSpPr/>
          <p:nvPr/>
        </p:nvSpPr>
        <p:spPr>
          <a:xfrm>
            <a:off x="8577072" y="420624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667889"/>
                </a:solidFill>
              </a:rPr>
              <a:t>Dette skal byggesteinen bidra med</a:t>
            </a:r>
            <a:endParaRPr lang="en-US" sz="860" dirty="0"/>
          </a:p>
        </p:txBody>
      </p:sp>
      <p:sp>
        <p:nvSpPr>
          <p:cNvPr id="50" name="Shape 48"/>
          <p:cNvSpPr/>
          <p:nvPr/>
        </p:nvSpPr>
        <p:spPr>
          <a:xfrm>
            <a:off x="8595360" y="4526280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D3826A"/>
          </a:solidFill>
          <a:ln w="12700">
            <a:solidFill>
              <a:srgbClr val="D3826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51" name="Text 49"/>
          <p:cNvSpPr/>
          <p:nvPr/>
        </p:nvSpPr>
        <p:spPr>
          <a:xfrm>
            <a:off x="8796528" y="449884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dirty="0">
                <a:solidFill>
                  <a:srgbClr val="163044"/>
                </a:solidFill>
              </a:rPr>
              <a:t>Meravkastningspotensial</a:t>
            </a:r>
            <a:endParaRPr lang="en-US" sz="910" dirty="0"/>
          </a:p>
        </p:txBody>
      </p:sp>
      <p:sp>
        <p:nvSpPr>
          <p:cNvPr id="52" name="Shape 50"/>
          <p:cNvSpPr/>
          <p:nvPr/>
        </p:nvSpPr>
        <p:spPr>
          <a:xfrm>
            <a:off x="8595360" y="500176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D3826A"/>
          </a:solidFill>
          <a:ln w="12700">
            <a:solidFill>
              <a:srgbClr val="D3826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53" name="Text 51"/>
          <p:cNvSpPr/>
          <p:nvPr/>
        </p:nvSpPr>
        <p:spPr>
          <a:xfrm>
            <a:off x="8796528" y="497433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dirty="0">
                <a:solidFill>
                  <a:srgbClr val="163044"/>
                </a:solidFill>
              </a:rPr>
              <a:t>Norsk eksponering og lokal innsikt</a:t>
            </a:r>
            <a:endParaRPr lang="en-US" sz="910" dirty="0"/>
          </a:p>
        </p:txBody>
      </p:sp>
      <p:sp>
        <p:nvSpPr>
          <p:cNvPr id="54" name="Shape 52"/>
          <p:cNvSpPr/>
          <p:nvPr/>
        </p:nvSpPr>
        <p:spPr>
          <a:xfrm>
            <a:off x="8595360" y="547725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D3826A"/>
          </a:solidFill>
          <a:ln w="12700">
            <a:solidFill>
              <a:srgbClr val="D3826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55" name="Text 53"/>
          <p:cNvSpPr/>
          <p:nvPr/>
        </p:nvSpPr>
        <p:spPr>
          <a:xfrm>
            <a:off x="8796528" y="544982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dirty="0">
                <a:solidFill>
                  <a:srgbClr val="163044"/>
                </a:solidFill>
              </a:rPr>
              <a:t>Tematisk energi som mindre satellitt</a:t>
            </a:r>
            <a:endParaRPr lang="en-US" sz="910" dirty="0"/>
          </a:p>
        </p:txBody>
      </p:sp>
      <p:sp>
        <p:nvSpPr>
          <p:cNvPr id="56" name="Shape 54"/>
          <p:cNvSpPr/>
          <p:nvPr/>
        </p:nvSpPr>
        <p:spPr>
          <a:xfrm>
            <a:off x="512064" y="6464808"/>
            <a:ext cx="11167567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57" name="Text 55"/>
          <p:cNvSpPr/>
          <p:nvPr/>
        </p:nvSpPr>
        <p:spPr>
          <a:xfrm>
            <a:off x="512064" y="6556248"/>
            <a:ext cx="9784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67889"/>
                </a:solidFill>
              </a:rPr>
              <a:t>Illustrasjonen er ment som en oppsummering av en modellportefølje og er ikke personlig investeringsrådgivning.</a:t>
            </a:r>
            <a:endParaRPr lang="en-US" sz="720" dirty="0"/>
          </a:p>
        </p:txBody>
      </p:sp>
      <p:sp>
        <p:nvSpPr>
          <p:cNvPr id="58" name="Text 56"/>
          <p:cNvSpPr/>
          <p:nvPr/>
        </p:nvSpPr>
        <p:spPr>
          <a:xfrm>
            <a:off x="11451031" y="654710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667889"/>
                </a:solidFill>
              </a:rPr>
              <a:t>4</a:t>
            </a:r>
            <a:endParaRPr lang="en-US" sz="7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560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284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PENSUM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929384" y="283464"/>
            <a:ext cx="9144" cy="201168"/>
          </a:xfrm>
          <a:prstGeom prst="line">
            <a:avLst/>
          </a:prstGeom>
          <a:noFill/>
          <a:ln w="12700">
            <a:solidFill>
              <a:srgbClr val="D3826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4" name="Text 2"/>
          <p:cNvSpPr/>
          <p:nvPr/>
        </p:nvSpPr>
        <p:spPr>
          <a:xfrm>
            <a:off x="2048256" y="28346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88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ASSET MANAGEMENT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485071" y="29260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4F8AA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ILLUSTRATIV OPPSUMMERING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D284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Scenario, historikk og risikobilde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12064" y="1316736"/>
            <a:ext cx="11167567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8" name="Shape 6"/>
          <p:cNvSpPr/>
          <p:nvPr/>
        </p:nvSpPr>
        <p:spPr>
          <a:xfrm>
            <a:off x="512064" y="1609344"/>
            <a:ext cx="6382512" cy="4370832"/>
          </a:xfrm>
          <a:prstGeom prst="roundRect">
            <a:avLst>
              <a:gd name="adj" fmla="val 2929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9" name="Text 7"/>
          <p:cNvSpPr/>
          <p:nvPr/>
        </p:nvSpPr>
        <p:spPr>
          <a:xfrm>
            <a:off x="713232" y="18013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841"/>
                </a:solidFill>
              </a:rPr>
              <a:t>10-års scenarioanalyse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13232" y="20391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67889"/>
                </a:solidFill>
              </a:rPr>
              <a:t>Forventet, optimistisk og pessimistisk utvikling av investert kapital på NOK 10m. Illustrativ fremstilling basert på scenarioantakelsene i forslaget.</a:t>
            </a:r>
            <a:endParaRPr lang="en-US" sz="88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4944" y="2331720"/>
            <a:ext cx="5907024" cy="253288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13232" y="5001768"/>
            <a:ext cx="1847088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3" name="Shape 10"/>
          <p:cNvSpPr/>
          <p:nvPr/>
        </p:nvSpPr>
        <p:spPr>
          <a:xfrm>
            <a:off x="822960" y="5129784"/>
            <a:ext cx="109728" cy="420624"/>
          </a:xfrm>
          <a:prstGeom prst="roundRect">
            <a:avLst>
              <a:gd name="adj" fmla="val 41667"/>
            </a:avLst>
          </a:prstGeom>
          <a:solidFill>
            <a:srgbClr val="D88A3D"/>
          </a:solidFill>
          <a:ln w="12700">
            <a:solidFill>
              <a:srgbClr val="D88A3D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4" name="Text 11"/>
          <p:cNvSpPr/>
          <p:nvPr/>
        </p:nvSpPr>
        <p:spPr>
          <a:xfrm>
            <a:off x="1005840" y="511149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667889"/>
                </a:solidFill>
              </a:rPr>
              <a:t>Lavt scenario</a:t>
            </a:r>
            <a:endParaRPr lang="en-US" sz="820" dirty="0"/>
          </a:p>
        </p:txBody>
      </p:sp>
      <p:sp>
        <p:nvSpPr>
          <p:cNvPr id="15" name="Text 12"/>
          <p:cNvSpPr/>
          <p:nvPr/>
        </p:nvSpPr>
        <p:spPr>
          <a:xfrm>
            <a:off x="1005840" y="529437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D2841"/>
                </a:solidFill>
              </a:rPr>
              <a:t>NOK 8,17m</a:t>
            </a:r>
            <a:endParaRPr lang="en-US" sz="1120" dirty="0"/>
          </a:p>
        </p:txBody>
      </p:sp>
      <p:sp>
        <p:nvSpPr>
          <p:cNvPr id="16" name="Text 13"/>
          <p:cNvSpPr/>
          <p:nvPr/>
        </p:nvSpPr>
        <p:spPr>
          <a:xfrm>
            <a:off x="1883664" y="5321808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889"/>
                </a:solidFill>
              </a:rPr>
              <a:t>-2,0% CAGR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743200" y="5001768"/>
            <a:ext cx="1847088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8" name="Shape 15"/>
          <p:cNvSpPr/>
          <p:nvPr/>
        </p:nvSpPr>
        <p:spPr>
          <a:xfrm>
            <a:off x="2852928" y="5129784"/>
            <a:ext cx="109728" cy="420624"/>
          </a:xfrm>
          <a:prstGeom prst="roundRect">
            <a:avLst>
              <a:gd name="adj" fmla="val 41667"/>
            </a:avLst>
          </a:prstGeom>
          <a:solidFill>
            <a:srgbClr val="123E6A"/>
          </a:solidFill>
          <a:ln w="12700">
            <a:solidFill>
              <a:srgbClr val="123E6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9" name="Text 16"/>
          <p:cNvSpPr/>
          <p:nvPr/>
        </p:nvSpPr>
        <p:spPr>
          <a:xfrm>
            <a:off x="3035808" y="511149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667889"/>
                </a:solidFill>
              </a:rPr>
              <a:t>Basis</a:t>
            </a:r>
            <a:endParaRPr lang="en-US" sz="820" dirty="0"/>
          </a:p>
        </p:txBody>
      </p:sp>
      <p:sp>
        <p:nvSpPr>
          <p:cNvPr id="20" name="Text 17"/>
          <p:cNvSpPr/>
          <p:nvPr/>
        </p:nvSpPr>
        <p:spPr>
          <a:xfrm>
            <a:off x="3035808" y="529437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D2841"/>
                </a:solidFill>
              </a:rPr>
              <a:t>NOK 24,64m</a:t>
            </a:r>
            <a:endParaRPr lang="en-US" sz="1120" dirty="0"/>
          </a:p>
        </p:txBody>
      </p:sp>
      <p:sp>
        <p:nvSpPr>
          <p:cNvPr id="21" name="Text 18"/>
          <p:cNvSpPr/>
          <p:nvPr/>
        </p:nvSpPr>
        <p:spPr>
          <a:xfrm>
            <a:off x="3913632" y="5321808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889"/>
                </a:solidFill>
              </a:rPr>
              <a:t>9,2% CAGR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773168" y="5001768"/>
            <a:ext cx="1847088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3" name="Shape 20"/>
          <p:cNvSpPr/>
          <p:nvPr/>
        </p:nvSpPr>
        <p:spPr>
          <a:xfrm>
            <a:off x="4882896" y="5129784"/>
            <a:ext cx="109728" cy="420624"/>
          </a:xfrm>
          <a:prstGeom prst="roundRect">
            <a:avLst>
              <a:gd name="adj" fmla="val 41667"/>
            </a:avLst>
          </a:prstGeom>
          <a:solidFill>
            <a:srgbClr val="1F7A5B"/>
          </a:solidFill>
          <a:ln w="12700">
            <a:solidFill>
              <a:srgbClr val="1F7A5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4" name="Text 21"/>
          <p:cNvSpPr/>
          <p:nvPr/>
        </p:nvSpPr>
        <p:spPr>
          <a:xfrm>
            <a:off x="5065776" y="511149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667889"/>
                </a:solidFill>
              </a:rPr>
              <a:t>Høyt scenario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5065776" y="529437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D2841"/>
                </a:solidFill>
              </a:rPr>
              <a:t>NOK 31,06m</a:t>
            </a:r>
            <a:endParaRPr lang="en-US" sz="1120" dirty="0"/>
          </a:p>
        </p:txBody>
      </p:sp>
      <p:sp>
        <p:nvSpPr>
          <p:cNvPr id="26" name="Text 23"/>
          <p:cNvSpPr/>
          <p:nvPr/>
        </p:nvSpPr>
        <p:spPr>
          <a:xfrm>
            <a:off x="5943600" y="5321808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889"/>
                </a:solidFill>
              </a:rPr>
              <a:t>12,0% CAGR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7095744" y="1609344"/>
            <a:ext cx="4590288" cy="4370832"/>
          </a:xfrm>
          <a:prstGeom prst="roundRect">
            <a:avLst>
              <a:gd name="adj" fmla="val 2929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28" name="Text 25"/>
          <p:cNvSpPr/>
          <p:nvPr/>
        </p:nvSpPr>
        <p:spPr>
          <a:xfrm>
            <a:off x="7296912" y="180136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841"/>
                </a:solidFill>
              </a:rPr>
              <a:t>Historikk og nøkkelpunkter</a:t>
            </a:r>
            <a:endParaRPr lang="en-US" sz="1250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78624" y="2066544"/>
            <a:ext cx="2788920" cy="166420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7315200" y="371246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67889"/>
                </a:solidFill>
              </a:rPr>
              <a:t>Årlig historisk avkastning (vektet)</a:t>
            </a:r>
            <a:endParaRPr lang="en-US" sz="820" dirty="0"/>
          </a:p>
        </p:txBody>
      </p:sp>
      <p:sp>
        <p:nvSpPr>
          <p:cNvPr id="31" name="Shape 27"/>
          <p:cNvSpPr/>
          <p:nvPr/>
        </p:nvSpPr>
        <p:spPr>
          <a:xfrm>
            <a:off x="7315200" y="4041648"/>
            <a:ext cx="18745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2" name="Text 28"/>
          <p:cNvSpPr/>
          <p:nvPr/>
        </p:nvSpPr>
        <p:spPr>
          <a:xfrm>
            <a:off x="7443216" y="4151376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90" b="1" dirty="0">
                <a:solidFill>
                  <a:srgbClr val="667889"/>
                </a:solidFill>
              </a:rPr>
              <a:t>Forv. porteføljeavkastning</a:t>
            </a:r>
            <a:endParaRPr lang="en-US" sz="790" dirty="0"/>
          </a:p>
        </p:txBody>
      </p:sp>
      <p:sp>
        <p:nvSpPr>
          <p:cNvPr id="33" name="Text 29"/>
          <p:cNvSpPr/>
          <p:nvPr/>
        </p:nvSpPr>
        <p:spPr>
          <a:xfrm>
            <a:off x="7443216" y="4352544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23E6A"/>
                </a:solidFill>
              </a:rPr>
              <a:t>9,7%</a:t>
            </a:r>
            <a:endParaRPr lang="en-US" sz="1320" dirty="0"/>
          </a:p>
        </p:txBody>
      </p:sp>
      <p:sp>
        <p:nvSpPr>
          <p:cNvPr id="34" name="Shape 30"/>
          <p:cNvSpPr/>
          <p:nvPr/>
        </p:nvSpPr>
        <p:spPr>
          <a:xfrm>
            <a:off x="9454896" y="4041648"/>
            <a:ext cx="18745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5" name="Text 31"/>
          <p:cNvSpPr/>
          <p:nvPr/>
        </p:nvSpPr>
        <p:spPr>
          <a:xfrm>
            <a:off x="9582912" y="4151376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90" b="1" dirty="0">
                <a:solidFill>
                  <a:srgbClr val="667889"/>
                </a:solidFill>
              </a:rPr>
              <a:t>Forv. løpende yield</a:t>
            </a:r>
            <a:endParaRPr lang="en-US" sz="790" dirty="0"/>
          </a:p>
        </p:txBody>
      </p:sp>
      <p:sp>
        <p:nvSpPr>
          <p:cNvPr id="36" name="Text 32"/>
          <p:cNvSpPr/>
          <p:nvPr/>
        </p:nvSpPr>
        <p:spPr>
          <a:xfrm>
            <a:off x="9582912" y="4352544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F7A5B"/>
                </a:solidFill>
              </a:rPr>
              <a:t>3,5%</a:t>
            </a:r>
            <a:endParaRPr lang="en-US" sz="1320" dirty="0"/>
          </a:p>
        </p:txBody>
      </p:sp>
      <p:sp>
        <p:nvSpPr>
          <p:cNvPr id="37" name="Shape 33"/>
          <p:cNvSpPr/>
          <p:nvPr/>
        </p:nvSpPr>
        <p:spPr>
          <a:xfrm>
            <a:off x="7315200" y="4928616"/>
            <a:ext cx="18745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8" name="Text 34"/>
          <p:cNvSpPr/>
          <p:nvPr/>
        </p:nvSpPr>
        <p:spPr>
          <a:xfrm>
            <a:off x="7443216" y="5038344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90" b="1" dirty="0">
                <a:solidFill>
                  <a:srgbClr val="667889"/>
                </a:solidFill>
              </a:rPr>
              <a:t>Maks drawdown i forslaget</a:t>
            </a:r>
            <a:endParaRPr lang="en-US" sz="790" dirty="0"/>
          </a:p>
        </p:txBody>
      </p:sp>
      <p:sp>
        <p:nvSpPr>
          <p:cNvPr id="39" name="Text 35"/>
          <p:cNvSpPr/>
          <p:nvPr/>
        </p:nvSpPr>
        <p:spPr>
          <a:xfrm>
            <a:off x="7443216" y="5239512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C55A4A"/>
                </a:solidFill>
              </a:rPr>
              <a:t>-8,6%</a:t>
            </a:r>
            <a:endParaRPr lang="en-US" sz="1320" dirty="0"/>
          </a:p>
        </p:txBody>
      </p:sp>
      <p:sp>
        <p:nvSpPr>
          <p:cNvPr id="40" name="Shape 36"/>
          <p:cNvSpPr/>
          <p:nvPr/>
        </p:nvSpPr>
        <p:spPr>
          <a:xfrm>
            <a:off x="9454896" y="4928616"/>
            <a:ext cx="18745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41" name="Text 37"/>
          <p:cNvSpPr/>
          <p:nvPr/>
        </p:nvSpPr>
        <p:spPr>
          <a:xfrm>
            <a:off x="9582912" y="5038344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90" b="1" dirty="0">
                <a:solidFill>
                  <a:srgbClr val="667889"/>
                </a:solidFill>
              </a:rPr>
              <a:t>Likviditet</a:t>
            </a:r>
            <a:endParaRPr lang="en-US" sz="790" dirty="0"/>
          </a:p>
        </p:txBody>
      </p:sp>
      <p:sp>
        <p:nvSpPr>
          <p:cNvPr id="42" name="Text 38"/>
          <p:cNvSpPr/>
          <p:nvPr/>
        </p:nvSpPr>
        <p:spPr>
          <a:xfrm>
            <a:off x="9582912" y="5239512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4F8AA9"/>
                </a:solidFill>
              </a:rPr>
              <a:t>100% likvid</a:t>
            </a:r>
            <a:endParaRPr lang="en-US" sz="1320" dirty="0"/>
          </a:p>
        </p:txBody>
      </p:sp>
      <p:sp>
        <p:nvSpPr>
          <p:cNvPr id="43" name="Shape 39"/>
          <p:cNvSpPr/>
          <p:nvPr/>
        </p:nvSpPr>
        <p:spPr>
          <a:xfrm>
            <a:off x="512064" y="6464808"/>
            <a:ext cx="11167567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44" name="Text 40"/>
          <p:cNvSpPr/>
          <p:nvPr/>
        </p:nvSpPr>
        <p:spPr>
          <a:xfrm>
            <a:off x="512064" y="6556248"/>
            <a:ext cx="9784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67889"/>
                </a:solidFill>
              </a:rPr>
              <a:t>Illustrasjonen er ment som en oppsummering av en modellportefølje og er ikke personlig investeringsrådgivning.</a:t>
            </a:r>
            <a:endParaRPr lang="en-US" sz="720" dirty="0"/>
          </a:p>
        </p:txBody>
      </p:sp>
      <p:sp>
        <p:nvSpPr>
          <p:cNvPr id="45" name="Text 41"/>
          <p:cNvSpPr/>
          <p:nvPr/>
        </p:nvSpPr>
        <p:spPr>
          <a:xfrm>
            <a:off x="11451031" y="654710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667889"/>
                </a:solidFill>
              </a:rPr>
              <a:t>5</a:t>
            </a:r>
            <a:endParaRPr lang="en-US" sz="7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560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284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PENSUM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929384" y="283464"/>
            <a:ext cx="9144" cy="201168"/>
          </a:xfrm>
          <a:prstGeom prst="line">
            <a:avLst/>
          </a:prstGeom>
          <a:noFill/>
          <a:ln w="12700">
            <a:solidFill>
              <a:srgbClr val="D3826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4" name="Text 2"/>
          <p:cNvSpPr/>
          <p:nvPr/>
        </p:nvSpPr>
        <p:spPr>
          <a:xfrm>
            <a:off x="2048256" y="28346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88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ASSET MANAGEMENT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485071" y="29260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4F8AA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ILLUSTRATIV OPPSUMMERING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D284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Hvorfor sammensetningen kan fungere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12064" y="1316736"/>
            <a:ext cx="11167567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8" name="Shape 6"/>
          <p:cNvSpPr/>
          <p:nvPr/>
        </p:nvSpPr>
        <p:spPr>
          <a:xfrm>
            <a:off x="512064" y="1609344"/>
            <a:ext cx="3584448" cy="437083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9" name="Shape 7"/>
          <p:cNvSpPr/>
          <p:nvPr/>
        </p:nvSpPr>
        <p:spPr>
          <a:xfrm>
            <a:off x="4315968" y="1609344"/>
            <a:ext cx="3584448" cy="437083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10" name="Shape 8"/>
          <p:cNvSpPr/>
          <p:nvPr/>
        </p:nvSpPr>
        <p:spPr>
          <a:xfrm>
            <a:off x="8119872" y="1609344"/>
            <a:ext cx="3566160" cy="4370832"/>
          </a:xfrm>
          <a:prstGeom prst="roundRect">
            <a:avLst>
              <a:gd name="adj" fmla="val 3590"/>
            </a:avLst>
          </a:prstGeom>
          <a:solidFill>
            <a:srgbClr val="0D2841"/>
          </a:solidFill>
          <a:ln w="12700">
            <a:solidFill>
              <a:srgbClr val="0D2841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1" name="Text 9"/>
          <p:cNvSpPr/>
          <p:nvPr/>
        </p:nvSpPr>
        <p:spPr>
          <a:xfrm>
            <a:off x="713232" y="18013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0D2841"/>
                </a:solidFill>
              </a:rPr>
              <a:t>Aggregert regioneksponering</a:t>
            </a:r>
            <a:endParaRPr lang="en-US" sz="122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6656" y="2084832"/>
            <a:ext cx="3200400" cy="17373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13232" y="41148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163044"/>
                </a:solidFill>
              </a:rPr>
              <a:t>Porteføljen har klar global forankring, med størst eksponering mot USA, supplert av mindre bidrag fra Storbritannia, Japan og utvalgte europeiske markeder.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4517136" y="18013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0D2841"/>
                </a:solidFill>
              </a:rPr>
              <a:t>Aggregert sektoreksponering</a:t>
            </a:r>
            <a:endParaRPr lang="en-US" sz="122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80560" y="2084832"/>
            <a:ext cx="3200400" cy="17373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17136" y="41148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163044"/>
                </a:solidFill>
              </a:rPr>
              <a:t>Sammensetningen er bred, men har samtidig tydelige over- og undervekter som gjør at porteføljen ikke bare blir en kopi av et globalt indeksfond.</a:t>
            </a:r>
            <a:endParaRPr lang="en-US" sz="920" dirty="0"/>
          </a:p>
        </p:txBody>
      </p:sp>
      <p:sp>
        <p:nvSpPr>
          <p:cNvPr id="17" name="Text 13"/>
          <p:cNvSpPr/>
          <p:nvPr/>
        </p:nvSpPr>
        <p:spPr>
          <a:xfrm>
            <a:off x="8339328" y="18013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FFFFFF"/>
                </a:solidFill>
              </a:rPr>
              <a:t>Tre hovedgrunner</a:t>
            </a:r>
            <a:endParaRPr lang="en-US" sz="1220" dirty="0"/>
          </a:p>
        </p:txBody>
      </p:sp>
      <p:sp>
        <p:nvSpPr>
          <p:cNvPr id="18" name="Shape 14"/>
          <p:cNvSpPr/>
          <p:nvPr/>
        </p:nvSpPr>
        <p:spPr>
          <a:xfrm>
            <a:off x="8357616" y="2194560"/>
            <a:ext cx="256032" cy="256032"/>
          </a:xfrm>
          <a:prstGeom prst="roundRect">
            <a:avLst>
              <a:gd name="adj" fmla="val 28571"/>
            </a:avLst>
          </a:prstGeom>
          <a:solidFill>
            <a:srgbClr val="4F8AA9"/>
          </a:solidFill>
          <a:ln w="12700">
            <a:solidFill>
              <a:srgbClr val="4F8AA9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9" name="Text 15"/>
          <p:cNvSpPr/>
          <p:nvPr/>
        </p:nvSpPr>
        <p:spPr>
          <a:xfrm>
            <a:off x="8357616" y="2240280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1</a:t>
            </a:r>
            <a:endParaRPr lang="en-US" sz="860" dirty="0"/>
          </a:p>
        </p:txBody>
      </p:sp>
      <p:sp>
        <p:nvSpPr>
          <p:cNvPr id="20" name="Text 16"/>
          <p:cNvSpPr/>
          <p:nvPr/>
        </p:nvSpPr>
        <p:spPr>
          <a:xfrm>
            <a:off x="8723376" y="217627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b="1" dirty="0">
                <a:solidFill>
                  <a:srgbClr val="FFFFFF"/>
                </a:solidFill>
              </a:rPr>
              <a:t>Tydelig rollefordeling</a:t>
            </a:r>
            <a:endParaRPr lang="en-US" sz="1010" dirty="0"/>
          </a:p>
        </p:txBody>
      </p:sp>
      <p:sp>
        <p:nvSpPr>
          <p:cNvPr id="21" name="Text 17"/>
          <p:cNvSpPr/>
          <p:nvPr/>
        </p:nvSpPr>
        <p:spPr>
          <a:xfrm>
            <a:off x="8723376" y="2377440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E4EDF3"/>
                </a:solidFill>
              </a:rPr>
              <a:t>Hver byggestein har en definert oppgave – enten å bære avkastning, skape stabilitet eller øke meravkastningspotensialet.</a:t>
            </a:r>
            <a:endParaRPr lang="en-US" sz="870" dirty="0"/>
          </a:p>
        </p:txBody>
      </p:sp>
      <p:sp>
        <p:nvSpPr>
          <p:cNvPr id="22" name="Shape 18"/>
          <p:cNvSpPr/>
          <p:nvPr/>
        </p:nvSpPr>
        <p:spPr>
          <a:xfrm>
            <a:off x="8357616" y="3182112"/>
            <a:ext cx="256032" cy="256032"/>
          </a:xfrm>
          <a:prstGeom prst="roundRect">
            <a:avLst>
              <a:gd name="adj" fmla="val 28571"/>
            </a:avLst>
          </a:prstGeom>
          <a:solidFill>
            <a:srgbClr val="1F7A5B"/>
          </a:solidFill>
          <a:ln w="12700">
            <a:solidFill>
              <a:srgbClr val="1F7A5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3" name="Text 19"/>
          <p:cNvSpPr/>
          <p:nvPr/>
        </p:nvSpPr>
        <p:spPr>
          <a:xfrm>
            <a:off x="8357616" y="3227832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2</a:t>
            </a:r>
            <a:endParaRPr lang="en-US" sz="860" dirty="0"/>
          </a:p>
        </p:txBody>
      </p:sp>
      <p:sp>
        <p:nvSpPr>
          <p:cNvPr id="24" name="Text 20"/>
          <p:cNvSpPr/>
          <p:nvPr/>
        </p:nvSpPr>
        <p:spPr>
          <a:xfrm>
            <a:off x="8723376" y="316382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b="1" dirty="0">
                <a:solidFill>
                  <a:srgbClr val="FFFFFF"/>
                </a:solidFill>
              </a:rPr>
              <a:t>Likvid og håndterbar</a:t>
            </a:r>
            <a:endParaRPr lang="en-US" sz="1010" dirty="0"/>
          </a:p>
        </p:txBody>
      </p:sp>
      <p:sp>
        <p:nvSpPr>
          <p:cNvPr id="25" name="Text 21"/>
          <p:cNvSpPr/>
          <p:nvPr/>
        </p:nvSpPr>
        <p:spPr>
          <a:xfrm>
            <a:off x="8723376" y="3364992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E4EDF3"/>
                </a:solidFill>
              </a:rPr>
              <a:t>Porteføljen er bygget med likvide løsninger og daglig verdsettelse, noe som gjør den enkel å følge opp og rebalansere.</a:t>
            </a:r>
            <a:endParaRPr lang="en-US" sz="870" dirty="0"/>
          </a:p>
        </p:txBody>
      </p:sp>
      <p:sp>
        <p:nvSpPr>
          <p:cNvPr id="26" name="Shape 22"/>
          <p:cNvSpPr/>
          <p:nvPr/>
        </p:nvSpPr>
        <p:spPr>
          <a:xfrm>
            <a:off x="8357616" y="4169664"/>
            <a:ext cx="256032" cy="256032"/>
          </a:xfrm>
          <a:prstGeom prst="roundRect">
            <a:avLst>
              <a:gd name="adj" fmla="val 28571"/>
            </a:avLst>
          </a:prstGeom>
          <a:solidFill>
            <a:srgbClr val="D3826A"/>
          </a:solidFill>
          <a:ln w="12700">
            <a:solidFill>
              <a:srgbClr val="D3826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7" name="Text 23"/>
          <p:cNvSpPr/>
          <p:nvPr/>
        </p:nvSpPr>
        <p:spPr>
          <a:xfrm>
            <a:off x="8357616" y="421538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3</a:t>
            </a:r>
            <a:endParaRPr lang="en-US" sz="860" dirty="0"/>
          </a:p>
        </p:txBody>
      </p:sp>
      <p:sp>
        <p:nvSpPr>
          <p:cNvPr id="28" name="Text 24"/>
          <p:cNvSpPr/>
          <p:nvPr/>
        </p:nvSpPr>
        <p:spPr>
          <a:xfrm>
            <a:off x="8723376" y="4151376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b="1" dirty="0">
                <a:solidFill>
                  <a:srgbClr val="FFFFFF"/>
                </a:solidFill>
              </a:rPr>
              <a:t>Aktiv, men fortsatt robust</a:t>
            </a:r>
            <a:endParaRPr lang="en-US" sz="1010" dirty="0"/>
          </a:p>
        </p:txBody>
      </p:sp>
      <p:sp>
        <p:nvSpPr>
          <p:cNvPr id="29" name="Text 25"/>
          <p:cNvSpPr/>
          <p:nvPr/>
        </p:nvSpPr>
        <p:spPr>
          <a:xfrm>
            <a:off x="8723376" y="4352544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E4EDF3"/>
                </a:solidFill>
              </a:rPr>
              <a:t>Forslaget kombinerer brede globale byggesteiner med selektive norske og tematiske mandat for å balansere robusthet og aktive valg.</a:t>
            </a:r>
            <a:endParaRPr lang="en-US" sz="870" dirty="0"/>
          </a:p>
        </p:txBody>
      </p:sp>
      <p:sp>
        <p:nvSpPr>
          <p:cNvPr id="30" name="Shape 26"/>
          <p:cNvSpPr/>
          <p:nvPr/>
        </p:nvSpPr>
        <p:spPr>
          <a:xfrm>
            <a:off x="8339328" y="5285232"/>
            <a:ext cx="2926080" cy="0"/>
          </a:xfrm>
          <a:prstGeom prst="line">
            <a:avLst/>
          </a:prstGeom>
          <a:noFill/>
          <a:ln w="12700">
            <a:solidFill>
              <a:srgbClr val="355877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1" name="Text 27"/>
          <p:cNvSpPr/>
          <p:nvPr/>
        </p:nvSpPr>
        <p:spPr>
          <a:xfrm>
            <a:off x="8339328" y="543153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B7C7D4"/>
                </a:solidFill>
              </a:rPr>
              <a:t>Oppsummert</a:t>
            </a:r>
            <a:endParaRPr lang="en-US" sz="830" dirty="0"/>
          </a:p>
        </p:txBody>
      </p:sp>
      <p:sp>
        <p:nvSpPr>
          <p:cNvPr id="32" name="Text 28"/>
          <p:cNvSpPr/>
          <p:nvPr/>
        </p:nvSpPr>
        <p:spPr>
          <a:xfrm>
            <a:off x="8339328" y="5632704"/>
            <a:ext cx="29077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dirty="0">
                <a:solidFill>
                  <a:srgbClr val="FFFFFF"/>
                </a:solidFill>
              </a:rPr>
              <a:t>Forslaget fremstår som en balansert modellportefølje for en investor som ønsker god global spredning, moderat risikoprofil og tydelig struktur i porteføljen.</a:t>
            </a:r>
            <a:endParaRPr lang="en-US" sz="910" dirty="0"/>
          </a:p>
        </p:txBody>
      </p:sp>
      <p:sp>
        <p:nvSpPr>
          <p:cNvPr id="33" name="Shape 29"/>
          <p:cNvSpPr/>
          <p:nvPr/>
        </p:nvSpPr>
        <p:spPr>
          <a:xfrm>
            <a:off x="512064" y="6464808"/>
            <a:ext cx="11167567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4" name="Text 30"/>
          <p:cNvSpPr/>
          <p:nvPr/>
        </p:nvSpPr>
        <p:spPr>
          <a:xfrm>
            <a:off x="512064" y="6556248"/>
            <a:ext cx="9784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67889"/>
                </a:solidFill>
              </a:rPr>
              <a:t>Illustrasjonen er ment som en oppsummering av en modellportefølje og er ikke personlig investeringsrådgivning.</a:t>
            </a:r>
            <a:endParaRPr lang="en-US" sz="720" dirty="0"/>
          </a:p>
        </p:txBody>
      </p:sp>
      <p:sp>
        <p:nvSpPr>
          <p:cNvPr id="35" name="Text 31"/>
          <p:cNvSpPr/>
          <p:nvPr/>
        </p:nvSpPr>
        <p:spPr>
          <a:xfrm>
            <a:off x="11451031" y="654710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667889"/>
                </a:solidFill>
              </a:rPr>
              <a:t>6</a:t>
            </a:r>
            <a:endParaRPr lang="en-US" sz="7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560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284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PENSUM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929384" y="283464"/>
            <a:ext cx="9144" cy="201168"/>
          </a:xfrm>
          <a:prstGeom prst="line">
            <a:avLst/>
          </a:prstGeom>
          <a:noFill/>
          <a:ln w="12700">
            <a:solidFill>
              <a:srgbClr val="D3826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4" name="Text 2"/>
          <p:cNvSpPr/>
          <p:nvPr/>
        </p:nvSpPr>
        <p:spPr>
          <a:xfrm>
            <a:off x="2048256" y="28346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88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ASSET MANAGEMENT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485071" y="29260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4F8AA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FORMALIA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512064" y="74980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D284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Viktig informasjon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12064" y="1316736"/>
            <a:ext cx="11167567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8" name="Shape 6"/>
          <p:cNvSpPr/>
          <p:nvPr/>
        </p:nvSpPr>
        <p:spPr>
          <a:xfrm>
            <a:off x="512064" y="1609344"/>
            <a:ext cx="11173968" cy="4443984"/>
          </a:xfrm>
          <a:prstGeom prst="roundRect">
            <a:avLst>
              <a:gd name="adj" fmla="val 2881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9" name="Text 7"/>
          <p:cNvSpPr/>
          <p:nvPr/>
        </p:nvSpPr>
        <p:spPr>
          <a:xfrm>
            <a:off x="768096" y="1828800"/>
            <a:ext cx="10643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D2841"/>
                </a:solidFill>
              </a:rPr>
              <a:t>Denne presentasjonen er utarbeidet som en komprimert oppsummering av et illustrativt investeringsforslag i pre-kundefase. Dokumentet er ikke investeringsrådgivning, ikke en personlig anbefaling og må ikke brukes som eneste grunnlag for investeringsbeslutninger.</a:t>
            </a: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768096" y="2651760"/>
            <a:ext cx="5074920" cy="1024128"/>
          </a:xfrm>
          <a:prstGeom prst="roundRect">
            <a:avLst>
              <a:gd name="adj" fmla="val 10714"/>
            </a:avLst>
          </a:prstGeom>
          <a:solidFill>
            <a:srgbClr val="F8FBFD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1" name="Text 9"/>
          <p:cNvSpPr/>
          <p:nvPr/>
        </p:nvSpPr>
        <p:spPr>
          <a:xfrm>
            <a:off x="932688" y="277977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0D2841"/>
                </a:solidFill>
              </a:rPr>
              <a:t>1. Illustrativ fremstilling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932688" y="2980944"/>
            <a:ext cx="4645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63044"/>
                </a:solidFill>
              </a:rPr>
              <a:t>Porteføljen som er vist er en modellportefølje basert på overordnede og ikke-verifiserte opplysninger. Den er laget for å illustrere mulig sammensetning, rollefordeling og risikospredning.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6208776" y="2651760"/>
            <a:ext cx="5074920" cy="1024128"/>
          </a:xfrm>
          <a:prstGeom prst="roundRect">
            <a:avLst>
              <a:gd name="adj" fmla="val 10714"/>
            </a:avLst>
          </a:prstGeom>
          <a:solidFill>
            <a:srgbClr val="F8FBFD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4" name="Text 12"/>
          <p:cNvSpPr/>
          <p:nvPr/>
        </p:nvSpPr>
        <p:spPr>
          <a:xfrm>
            <a:off x="6373368" y="277977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0D2841"/>
                </a:solidFill>
              </a:rPr>
              <a:t>2. Kundeetablering kreves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6373368" y="2980944"/>
            <a:ext cx="4645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63044"/>
                </a:solidFill>
              </a:rPr>
              <a:t>Ethvert eventuelt kundeforhold og konkrete investeringsråd forutsetter separat kundeetablering, nærmere kartlegging av finansiell situasjon, erfaring, målsetninger, risikobærende evne og øvrige relevante forhold.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768096" y="3977640"/>
            <a:ext cx="5074920" cy="1024128"/>
          </a:xfrm>
          <a:prstGeom prst="roundRect">
            <a:avLst>
              <a:gd name="adj" fmla="val 10714"/>
            </a:avLst>
          </a:prstGeom>
          <a:solidFill>
            <a:srgbClr val="FBFAF8"/>
          </a:solidFill>
          <a:ln w="12700">
            <a:solidFill>
              <a:srgbClr val="E6DBD5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7" name="Text 15"/>
          <p:cNvSpPr/>
          <p:nvPr/>
        </p:nvSpPr>
        <p:spPr>
          <a:xfrm>
            <a:off x="932688" y="410565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0D2841"/>
                </a:solidFill>
              </a:rPr>
              <a:t>3. Risiko og avkastning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932688" y="4306824"/>
            <a:ext cx="4645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63044"/>
                </a:solidFill>
              </a:rPr>
              <a:t>Historisk avkastning er ingen garanti for fremtidig avkastning. Avkastningen kan bli negativ som følge av kurstap, og faktisk utvikling vil blant annet avhenge av marked, kostnader og forvalternes beslutninger.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6208776" y="3977640"/>
            <a:ext cx="5074920" cy="1024128"/>
          </a:xfrm>
          <a:prstGeom prst="roundRect">
            <a:avLst>
              <a:gd name="adj" fmla="val 10714"/>
            </a:avLst>
          </a:prstGeom>
          <a:solidFill>
            <a:srgbClr val="FBFAF8"/>
          </a:solidFill>
          <a:ln w="12700">
            <a:solidFill>
              <a:srgbClr val="E6DBD5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0" name="Text 18"/>
          <p:cNvSpPr/>
          <p:nvPr/>
        </p:nvSpPr>
        <p:spPr>
          <a:xfrm>
            <a:off x="6373368" y="410565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0D2841"/>
                </a:solidFill>
              </a:rPr>
              <a:t>4. Kilder og tallgrunnlag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6373368" y="4306824"/>
            <a:ext cx="4645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63044"/>
                </a:solidFill>
              </a:rPr>
              <a:t>Tall, scenarioer og produktbeskrivelser i denne oppsummeringen er hentet fra det underliggende investeringsforslaget og presentert i kondensert form. Eventuelle simuleringer og illustrasjoner kan inneholde forenklinger.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68096" y="5468112"/>
            <a:ext cx="10643616" cy="329184"/>
          </a:xfrm>
          <a:prstGeom prst="roundRect">
            <a:avLst>
              <a:gd name="adj" fmla="val 22222"/>
            </a:avLst>
          </a:prstGeom>
          <a:solidFill>
            <a:srgbClr val="EEF4F8"/>
          </a:solidFill>
          <a:ln w="12700">
            <a:solidFill>
              <a:srgbClr val="D5E0E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3" name="Text 21"/>
          <p:cNvSpPr/>
          <p:nvPr/>
        </p:nvSpPr>
        <p:spPr>
          <a:xfrm>
            <a:off x="950976" y="5559552"/>
            <a:ext cx="10241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163044"/>
                </a:solidFill>
              </a:rPr>
              <a:t>Denne oppsummeringen bør alltid ledsages av full kundeprosess, relevant produktinformasjon og ordinær dokumentasjon før eventuell implementering.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512064" y="6464808"/>
            <a:ext cx="11167567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5" name="Text 23"/>
          <p:cNvSpPr/>
          <p:nvPr/>
        </p:nvSpPr>
        <p:spPr>
          <a:xfrm>
            <a:off x="512064" y="6556248"/>
            <a:ext cx="9784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67889"/>
                </a:solidFill>
              </a:rPr>
              <a:t>Dokumentet er laget som oppsummering av investeringsforslag og må brukes sammen med fullstendig kundeprosess og tilhørende dokumentasjon.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11451031" y="654710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667889"/>
                </a:solidFill>
              </a:rPr>
              <a:t>7</a:t>
            </a:r>
            <a:endParaRPr lang="en-US" sz="7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Ope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1500</Words>
  <Application>Microsoft Office PowerPoint</Application>
  <PresentationFormat>Widescreen</PresentationFormat>
  <Paragraphs>222</Paragraphs>
  <Slides>7</Slides>
  <Notes>7</Notes>
  <HiddenSlides>0</HiddenSlides>
  <MMClips>0</MMClips>
  <ScaleCrop>false</ScaleCrop>
  <HeadingPairs>
    <vt:vector size="6" baseType="variant">
      <vt:variant>
        <vt:lpstr>Brukte skrifter</vt:lpstr>
      </vt:variant>
      <vt:variant>
        <vt:i4>2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7</vt:i4>
      </vt:variant>
    </vt:vector>
  </HeadingPairs>
  <TitlesOfParts>
    <vt:vector size="10" baseType="lpstr">
      <vt:lpstr>Arial</vt:lpstr>
      <vt:lpstr>Open Sans</vt:lpstr>
      <vt:lpstr>Office Theme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Pensum – oppsummering av investeringsforslag</dc:title>
  <dc:subject>Oppsummering av investeringsforslag</dc:subject>
  <dc:creator>OpenAI</dc:creator>
  <cp:lastModifiedBy>Magnus Kløvstad Langberg</cp:lastModifiedBy>
  <cp:revision>1</cp:revision>
  <dcterms:created xsi:type="dcterms:W3CDTF">2026-03-13T15:01:40Z</dcterms:created>
  <dcterms:modified xsi:type="dcterms:W3CDTF">2026-03-15T15:25:36Z</dcterms:modified>
</cp:coreProperties>
</file>