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Allokering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90B5"/>
              </a:solidFill>
              <a:effectLst/>
            </c:spPr>
          </c:dPt>
          <c:dPt>
            <c:idx val="1"/>
            <c:bubble3D val="0"/>
            <c:spPr>
              <a:solidFill>
                <a:srgbClr val="2F7C7A"/>
              </a:solidFill>
              <a:effectLst/>
            </c:spPr>
          </c:dPt>
          <c:dPt>
            <c:idx val="2"/>
            <c:bubble3D val="0"/>
            <c:spPr>
              <a:solidFill>
                <a:srgbClr val="D67A6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Globale aksjer</c:v>
                </c:pt>
                <c:pt idx="1">
                  <c:v>Renter</c:v>
                </c:pt>
                <c:pt idx="2">
                  <c:v>Norske aksjer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55</c:v>
                </c:pt>
                <c:pt idx="1">
                  <c:v>25</c:v>
                </c:pt>
                <c:pt idx="2">
                  <c:v>20</c:v>
                </c:pt>
              </c:numCache>
            </c:numRef>
          </c:val>
        </c:ser>
        <c:firstSliceAng val="0"/>
        <c:holeSize val="65"/>
      </c:doughnutChart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Modellportefølje</c:v>
                </c:pt>
              </c:strCache>
            </c:strRef>
          </c:tx>
          <c:spPr>
            <a:solidFill>
              <a:srgbClr val="0E2A47"/>
            </a:solidFill>
            <a:ln w="31750" cap="flat">
              <a:solidFill>
                <a:srgbClr val="0E2A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2A47"/>
              </a:solidFill>
              <a:ln w="9525" cap="flat">
                <a:solidFill>
                  <a:srgbClr val="0E2A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YTD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28.7</c:v>
                </c:pt>
                <c:pt idx="1">
                  <c:v>27.3</c:v>
                </c:pt>
                <c:pt idx="2">
                  <c:v>31.6</c:v>
                </c:pt>
                <c:pt idx="3">
                  <c:v>36.9</c:v>
                </c:pt>
                <c:pt idx="4">
                  <c:v>40.9</c:v>
                </c:pt>
                <c:pt idx="5">
                  <c:v>41.5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Pensum Basis</c:v>
                </c:pt>
              </c:strCache>
            </c:strRef>
          </c:tx>
          <c:spPr>
            <a:solidFill>
              <a:srgbClr val="2F7C7A"/>
            </a:solidFill>
            <a:ln w="31750" cap="flat">
              <a:solidFill>
                <a:srgbClr val="2F7C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7C7A"/>
              </a:solidFill>
              <a:ln w="9525" cap="flat">
                <a:solidFill>
                  <a:srgbClr val="2F7C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YTD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29.9</c:v>
                </c:pt>
                <c:pt idx="1">
                  <c:v>29.3</c:v>
                </c:pt>
                <c:pt idx="2">
                  <c:v>33.1</c:v>
                </c:pt>
                <c:pt idx="3">
                  <c:v>37.5</c:v>
                </c:pt>
                <c:pt idx="4">
                  <c:v>39.4</c:v>
                </c:pt>
                <c:pt idx="5">
                  <c:v>39.6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Global Core Active</c:v>
                </c:pt>
              </c:strCache>
            </c:strRef>
          </c:tx>
          <c:spPr>
            <a:solidFill>
              <a:srgbClr val="5B90B5"/>
            </a:solidFill>
            <a:ln w="31750" cap="flat">
              <a:solidFill>
                <a:srgbClr val="5B90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90B5"/>
              </a:solidFill>
              <a:ln w="9525" cap="flat">
                <a:solidFill>
                  <a:srgbClr val="5B90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YTD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53.7</c:v>
                </c:pt>
                <c:pt idx="1">
                  <c:v>49.9</c:v>
                </c:pt>
                <c:pt idx="2">
                  <c:v>62.6</c:v>
                </c:pt>
                <c:pt idx="3">
                  <c:v>82.5</c:v>
                </c:pt>
                <c:pt idx="4">
                  <c:v>89.2</c:v>
                </c:pt>
                <c:pt idx="5">
                  <c:v>87.8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20"/>
        </c:scaling>
        <c:delete val="0"/>
        <c:axPos val="l"/>
        <c:majorGridlines>
          <c:spPr>
            <a:ln w="12700" cap="flat">
              <a:solidFill>
                <a:srgbClr val="E6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5"/>
        </c:scaling>
        <c:delete val="0"/>
        <c:axPos val="l"/>
        <c:majorGridlines>
          <c:spPr>
            <a:ln w="12700" cap="flat">
              <a:solidFill>
                <a:srgbClr val="E6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Lav</c:v>
                </c:pt>
              </c:strCache>
            </c:strRef>
          </c:tx>
          <c:spPr>
            <a:solidFill>
              <a:srgbClr val="D67A61"/>
            </a:solidFill>
            <a:ln w="31750" cap="flat">
              <a:solidFill>
                <a:srgbClr val="D67A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7A61"/>
              </a:solidFill>
              <a:ln w="9525" cap="flat">
                <a:solidFill>
                  <a:srgbClr val="D67A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28.4</c:v>
                </c:pt>
                <c:pt idx="2">
                  <c:v>32.2</c:v>
                </c:pt>
                <c:pt idx="3">
                  <c:v>36.5</c:v>
                </c:pt>
                <c:pt idx="4">
                  <c:v>41.4</c:v>
                </c:pt>
                <c:pt idx="5">
                  <c:v>46.9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Basis</c:v>
                </c:pt>
              </c:strCache>
            </c:strRef>
          </c:tx>
          <c:spPr>
            <a:solidFill>
              <a:srgbClr val="1E9A63"/>
            </a:solidFill>
            <a:ln w="31750" cap="flat">
              <a:solidFill>
                <a:srgbClr val="1E9A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9A63"/>
              </a:solidFill>
              <a:ln w="9525" cap="flat">
                <a:solidFill>
                  <a:srgbClr val="1E9A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30.1</c:v>
                </c:pt>
                <c:pt idx="2">
                  <c:v>36.2</c:v>
                </c:pt>
                <c:pt idx="3">
                  <c:v>43.5</c:v>
                </c:pt>
                <c:pt idx="4">
                  <c:v>52.3</c:v>
                </c:pt>
                <c:pt idx="5">
                  <c:v>63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Høy</c:v>
                </c:pt>
              </c:strCache>
            </c:strRef>
          </c:tx>
          <c:spPr>
            <a:solidFill>
              <a:srgbClr val="5B90B5"/>
            </a:solidFill>
            <a:ln w="31750" cap="flat">
              <a:solidFill>
                <a:srgbClr val="5B90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90B5"/>
              </a:solidFill>
              <a:ln w="9525" cap="flat">
                <a:solidFill>
                  <a:srgbClr val="5B90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</c:v>
                </c:pt>
                <c:pt idx="1">
                  <c:v>31.6</c:v>
                </c:pt>
                <c:pt idx="2">
                  <c:v>40</c:v>
                </c:pt>
                <c:pt idx="3">
                  <c:v>50.7</c:v>
                </c:pt>
                <c:pt idx="4">
                  <c:v>64.1</c:v>
                </c:pt>
                <c:pt idx="5">
                  <c:v>81.2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20"/>
        </c:scaling>
        <c:delete val="0"/>
        <c:axPos val="l"/>
        <c:majorGridlines>
          <c:spPr>
            <a:ln w="12700" cap="flat">
              <a:solidFill>
                <a:srgbClr val="E6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contribution</c:v>
                </c:pt>
              </c:strCache>
            </c:strRef>
          </c:tx>
          <c:spPr>
            <a:solidFill>
              <a:srgbClr val="5B90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Pensum Global Core Active</c:v>
                  </c:pt>
                  <c:pt idx="1">
                    <c:v>Pensum Global Høyrente</c:v>
                  </c:pt>
                  <c:pt idx="2">
                    <c:v>Pensum Norge A</c:v>
                  </c:pt>
                  <c:pt idx="3">
                    <c:v>Pensum Global Edge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1.9</c:v>
                </c:pt>
                <c:pt idx="2">
                  <c:v>2.2</c:v>
                </c:pt>
                <c:pt idx="3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E6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contribution</c:v>
                </c:pt>
              </c:strCache>
            </c:strRef>
          </c:tx>
          <c:spPr>
            <a:solidFill>
              <a:srgbClr val="2F7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Pensum Global Core Active</c:v>
                  </c:pt>
                  <c:pt idx="1">
                    <c:v>Pensum Global Høyrente</c:v>
                  </c:pt>
                  <c:pt idx="2">
                    <c:v>Pensum Norge A</c:v>
                  </c:pt>
                  <c:pt idx="3">
                    <c:v>Pensum Global Edge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1.8</c:v>
                </c:pt>
                <c:pt idx="2">
                  <c:v>0.6</c:v>
                </c:pt>
                <c:pt idx="3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12700" cap="flat">
              <a:solidFill>
                <a:srgbClr val="E6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Regioner</c:v>
                </c:pt>
              </c:strCache>
            </c:strRef>
          </c:tx>
          <c:spPr>
            <a:solidFill>
              <a:srgbClr val="5B90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United States</c:v>
                  </c:pt>
                  <c:pt idx="1">
                    <c:v>Other</c:v>
                  </c:pt>
                  <c:pt idx="2">
                    <c:v>Japan</c:v>
                  </c:pt>
                  <c:pt idx="3">
                    <c:v>United Kingdom</c:v>
                  </c:pt>
                  <c:pt idx="4">
                    <c:v>France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59.8</c:v>
                </c:pt>
                <c:pt idx="1">
                  <c:v>22.4</c:v>
                </c:pt>
                <c:pt idx="2">
                  <c:v>6.3</c:v>
                </c:pt>
                <c:pt idx="3">
                  <c:v>4.6</c:v>
                </c:pt>
                <c:pt idx="4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12700" cap="flat">
              <a:solidFill>
                <a:srgbClr val="E6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Sektorer</c:v>
                </c:pt>
              </c:strCache>
            </c:strRef>
          </c:tx>
          <c:spPr>
            <a:solidFill>
              <a:srgbClr val="2F7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Technology</c:v>
                  </c:pt>
                  <c:pt idx="1">
                    <c:v>Financial Services</c:v>
                  </c:pt>
                  <c:pt idx="2">
                    <c:v>Industrials</c:v>
                  </c:pt>
                  <c:pt idx="3">
                    <c:v>Other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26.9</c:v>
                </c:pt>
                <c:pt idx="1">
                  <c:v>17.3</c:v>
                </c:pt>
                <c:pt idx="2">
                  <c:v>13.5</c:v>
                </c:pt>
                <c:pt idx="3">
                  <c:v>13.1</c:v>
                </c:pt>
                <c:pt idx="4">
                  <c:v>10.8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E6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Underliggende</c:v>
                </c:pt>
              </c:strCache>
            </c:strRef>
          </c:tx>
          <c:spPr>
            <a:solidFill>
              <a:srgbClr val="2F7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Arctic Nordic Corporate Bond Class D</c:v>
                  </c:pt>
                  <c:pt idx="1">
                    <c:v>Barings Global High Yield Bond I NOK Acc</c:v>
                  </c:pt>
                  <c:pt idx="2">
                    <c:v>BlueBay Global High Yield Bd I NOK</c:v>
                  </c:pt>
                  <c:pt idx="3">
                    <c:v>Storm Bond ICN NOK</c:v>
                  </c:pt>
                  <c:pt idx="4">
                    <c:v>KLP Obligasjon Global 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25.3</c:v>
                </c:pt>
                <c:pt idx="1">
                  <c:v>23.2</c:v>
                </c:pt>
                <c:pt idx="2">
                  <c:v>20.2</c:v>
                </c:pt>
                <c:pt idx="3">
                  <c:v>16.2</c:v>
                </c:pt>
                <c:pt idx="4">
                  <c:v>15.2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E6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1 uses expected return/yield inputs from pensumDefaults.js and computed portfolio values from data_summary.json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2 summarizes the target structure proposed earlier, but product names, roles and suitability are grounded in pensumProductMasterV2.js and pensumDefaults.js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3 uses illustrative weights selected from the uploaded code base; product metadata and categories come from pensumProductMasterV2.js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4 is based on historical series extracted from pensumDatafeedHistorikk.js and the computed weighted model in data_summary.json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5 uses illustrative low/base/high forward assumptions; the base scenario is tied to the weighted expected return from data_summary.json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6 is based on weighted contribution math from data_summary.json using expected return and yield inputs in pensumDefaults.js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7 uses product roles and metadata from pensumProductMasterV2.js and expected return/yield assumptions from pensumDefaults.js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8 uses product positioning from pensumProductMasterV2.js and exposure data from pensumDefaults.js (global-core-active)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9 uses product positioning from pensumProductMasterV2.js and underliggende exposure data from pensumDefaults.js (global-hoyrente)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Brand reference: /mnt/data/NY Pensum Profilhåndbok 2021 (1).pdf
- Code and product metadata: /mnt/data/pensum_project/Pensum-Prognose-2-main/data/pensumProductMasterV2.js
- Historical data and exposures: /mnt/data/pensum_project/Pensum-Prognose-2-main/data/pensumDatafeedHistorikk.js and pensumDefaults.js
- Computed summary used in this deck: /mnt/data/pensum_project/data_summary.json
- Slide 10 reflects the implementation direction described in docs/PENSUM_V2_BLUEPRINT.md and the uploaded profile handbook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dark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4592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0" y="20116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D2E3"/>
                </a:solidFill>
              </a:rPr>
              <a:t>Eksempel - ny hovedpresentasjon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777240" y="107899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Forslag til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investeringsportefølje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86384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D2C6"/>
                </a:solidFill>
              </a:rPr>
              <a:t>Eksempel Investor AS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86384" y="22128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5"/>
                </a:solidFill>
              </a:rPr>
              <a:t>Illustrativ modellportefølje bygget i Pensum-drakt med faktiske produktdata, historikk og modulært innhold fra kodebasen.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86384" y="281635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67A61"/>
          </a:solidFill>
          <a:ln w="12700">
            <a:solidFill>
              <a:srgbClr val="D67A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857500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Moderat+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664208" y="28163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82496" y="2857500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 år horisont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816352" y="28163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2857500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Likvid struktur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86384" y="3401568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143553"/>
          </a:solidFill>
          <a:ln w="12700">
            <a:solidFill>
              <a:srgbClr val="2745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36118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2E3"/>
                </a:solidFill>
              </a:rPr>
              <a:t>Investeringshypotese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87552" y="3867912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Kombinerer global kjerneeksponering, høy løpende renteavkastning og en tydelig norsk komponent. Målet er å skape en portefølje som både er lett å forstå for kunden og sterk nok til å tåle markedssvingninger over tid.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29400" y="1234440"/>
            <a:ext cx="212140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93992" y="1362456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Investerbar kapital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93992" y="154533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NOK 25,0m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942832" y="1234440"/>
            <a:ext cx="2121408" cy="1005840"/>
          </a:xfrm>
          <a:prstGeom prst="roundRect">
            <a:avLst>
              <a:gd name="adj" fmla="val 4545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07424" y="1362456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Forv. årlig avkastning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07424" y="154533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9,7%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07424" y="2039112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vektet modell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29400" y="2423160"/>
            <a:ext cx="2121408" cy="1005840"/>
          </a:xfrm>
          <a:prstGeom prst="roundRect">
            <a:avLst>
              <a:gd name="adj" fmla="val 4545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93992" y="2551176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Risikoprofil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793992" y="273405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Moderat+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793992" y="3227832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med 25% renter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942832" y="2423160"/>
            <a:ext cx="212140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107424" y="2551176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Forv. sluttverdi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107424" y="273405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NOK 63,0m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107424" y="3227832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etter 10 år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629400" y="3840480"/>
            <a:ext cx="4434840" cy="978408"/>
          </a:xfrm>
          <a:prstGeom prst="roundRect">
            <a:avLst>
              <a:gd name="adj" fmla="val 3738"/>
            </a:avLst>
          </a:prstGeom>
          <a:solidFill>
            <a:srgbClr val="143553"/>
          </a:solidFill>
          <a:ln w="12700">
            <a:solidFill>
              <a:srgbClr val="35537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30568" y="40416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2E3"/>
                </a:solidFill>
              </a:rPr>
              <a:t>Porteføljen i ett blikk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30568" y="4279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55% globale aksjer  |  25% renter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20% norske aksjer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786384" y="5989320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2E3"/>
                </a:solidFill>
              </a:rPr>
              <a:t>Basert på produktdata fra kodebasen. Vektene er satt illustrativt for å demonstrere ønsket presentasjonsstandard.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INVESTERINGSHYPOTESE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96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</a:rPr>
              <a:t>Hvorfor denne porteføljen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8C"/>
                </a:solidFill>
              </a:rPr>
              <a:t>Den første innholdssliden må gi et tydelig svar på mål, konstruksjon og hvorfor løsningen passer kunden.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86384" y="1828800"/>
            <a:ext cx="2834640" cy="35204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0574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Kundens rammer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7552" y="239572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Formål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01952" y="238658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1"/>
                </a:solidFill>
              </a:rPr>
              <a:t>Langsiktig finansiell formue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87552" y="2606040"/>
            <a:ext cx="2331720" cy="0"/>
          </a:xfrm>
          <a:prstGeom prst="line">
            <a:avLst/>
          </a:prstGeom>
          <a:noFill/>
          <a:ln w="12700">
            <a:solidFill>
              <a:srgbClr val="E7ED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83464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Kapital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01952" y="28254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1"/>
                </a:solidFill>
              </a:rPr>
              <a:t>NOK 25,0m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87552" y="3044952"/>
            <a:ext cx="2331720" cy="0"/>
          </a:xfrm>
          <a:prstGeom prst="line">
            <a:avLst/>
          </a:prstGeom>
          <a:noFill/>
          <a:ln w="12700">
            <a:solidFill>
              <a:srgbClr val="E7ED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27355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Horisont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901952" y="326440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1"/>
                </a:solidFill>
              </a:rPr>
              <a:t>10 år+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87552" y="3483864"/>
            <a:ext cx="2331720" cy="0"/>
          </a:xfrm>
          <a:prstGeom prst="line">
            <a:avLst/>
          </a:prstGeom>
          <a:noFill/>
          <a:ln w="12700">
            <a:solidFill>
              <a:srgbClr val="E7ED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71246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Likviditet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901952" y="370332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1"/>
                </a:solidFill>
              </a:rPr>
              <a:t>Daglig tilgjengelighet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87552" y="3922776"/>
            <a:ext cx="2331720" cy="0"/>
          </a:xfrm>
          <a:prstGeom prst="line">
            <a:avLst/>
          </a:prstGeom>
          <a:noFill/>
          <a:ln w="12700">
            <a:solidFill>
              <a:srgbClr val="E7EDF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41513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Avkastningsmål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901952" y="414223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1"/>
                </a:solidFill>
              </a:rPr>
              <a:t>8-10% p.a.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87552" y="4361688"/>
            <a:ext cx="2331720" cy="0"/>
          </a:xfrm>
          <a:prstGeom prst="line">
            <a:avLst/>
          </a:prstGeom>
          <a:noFill/>
          <a:ln w="12700">
            <a:solidFill>
              <a:srgbClr val="E7EDF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45902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Risikoprofil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901952" y="45811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1"/>
                </a:solidFill>
              </a:rPr>
              <a:t>Moderat+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87552" y="4800600"/>
            <a:ext cx="2331720" cy="0"/>
          </a:xfrm>
          <a:prstGeom prst="line">
            <a:avLst/>
          </a:prstGeom>
          <a:noFill/>
          <a:ln w="12700">
            <a:solidFill>
              <a:srgbClr val="E7ED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840480" y="1828800"/>
            <a:ext cx="2331720" cy="3520440"/>
          </a:xfrm>
          <a:prstGeom prst="roundRect">
            <a:avLst>
              <a:gd name="adj" fmla="val 1961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69080" y="20482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E6F2"/>
                </a:solidFill>
              </a:rPr>
              <a:t>Porteføljens løfte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069080" y="2359152"/>
            <a:ext cx="1783080" cy="2011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Bygges rundt kjente Pensum-byggesteiner med tydelige roller.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
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Bruker renter til å stabilisere uten å miste avkastningskraft.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
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Gir en sterkere kundedialog gjennom historikk, scenario og forklaring.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355080" y="1828800"/>
            <a:ext cx="489204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0" y="204825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Tre byggesteiner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601968" y="2450592"/>
            <a:ext cx="164592" cy="420624"/>
          </a:xfrm>
          <a:prstGeom prst="roundRect">
            <a:avLst>
              <a:gd name="adj" fmla="val 16667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245973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Global vekstmotor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0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8C"/>
                </a:solidFill>
              </a:rPr>
              <a:t>Global Core Active og Global Edge gir bred aksjeeksponering og aktiv meravkastningsmulighet.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601968" y="3364992"/>
            <a:ext cx="164592" cy="420624"/>
          </a:xfrm>
          <a:prstGeom prst="roundRect">
            <a:avLst>
              <a:gd name="adj" fmla="val 16667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8000" y="337413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Kontantstrøm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858000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8C"/>
                </a:solidFill>
              </a:rPr>
              <a:t>Global Høyrente gir løpende yield og fungerer som støtdemper mot aksjesvingninger.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601968" y="4279392"/>
            <a:ext cx="164592" cy="420624"/>
          </a:xfrm>
          <a:prstGeom prst="roundRect">
            <a:avLst>
              <a:gd name="adj" fmla="val 16667"/>
            </a:avLst>
          </a:prstGeom>
          <a:solidFill>
            <a:srgbClr val="D67A61"/>
          </a:solidFill>
          <a:ln w="12700">
            <a:solidFill>
              <a:srgbClr val="D67A6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428853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Norsk forankring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858000" y="4462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8C"/>
                </a:solidFill>
              </a:rPr>
              <a:t>Pensum Norge A tilfører lokal markedskunnskap og tydelig hjemmemarkedsprofil.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ALLOKERING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96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</a:rPr>
              <a:t>Foreslått porteføljesammensetning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8C"/>
                </a:solidFill>
              </a:rPr>
              <a:t>Allokeringen må være lett å lese på ti sekunder, men samtidig ha nok dybde til å fungere som rådgivningsverktøy.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22960" y="1847088"/>
          <a:ext cx="2926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1645920" y="475488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58C"/>
                </a:solidFill>
              </a:rPr>
              <a:t>Aktivaklasser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828800"/>
            <a:ext cx="2377440" cy="324612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79392" y="204825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Rolle pr. byggestein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279392" y="2432304"/>
            <a:ext cx="146304" cy="384048"/>
          </a:xfrm>
          <a:prstGeom prst="roundRect">
            <a:avLst>
              <a:gd name="adj" fmla="val 18750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26280" y="24414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041"/>
                </a:solidFill>
              </a:rPr>
              <a:t>Globale aksjer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26280" y="25968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58C"/>
                </a:solidFill>
              </a:rPr>
              <a:t>Hovedmotor for langsiktig vekst</a:t>
            </a: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5760720" y="250545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2A47"/>
                </a:solidFill>
              </a:rPr>
              <a:t>55%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279392" y="3218688"/>
            <a:ext cx="146304" cy="384048"/>
          </a:xfrm>
          <a:prstGeom prst="roundRect">
            <a:avLst>
              <a:gd name="adj" fmla="val 18750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26280" y="322783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041"/>
                </a:solidFill>
              </a:rPr>
              <a:t>Renter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26280" y="3383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58C"/>
                </a:solidFill>
              </a:rPr>
              <a:t>Løpende yield og stabilitet</a:t>
            </a:r>
            <a:endParaRPr lang="en-US" sz="920" dirty="0"/>
          </a:p>
        </p:txBody>
      </p:sp>
      <p:sp>
        <p:nvSpPr>
          <p:cNvPr id="20" name="Text 16"/>
          <p:cNvSpPr/>
          <p:nvPr/>
        </p:nvSpPr>
        <p:spPr>
          <a:xfrm>
            <a:off x="5760720" y="32918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2A47"/>
                </a:solidFill>
              </a:rPr>
              <a:t>25%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279392" y="4005072"/>
            <a:ext cx="146304" cy="384048"/>
          </a:xfrm>
          <a:prstGeom prst="roundRect">
            <a:avLst>
              <a:gd name="adj" fmla="val 18750"/>
            </a:avLst>
          </a:prstGeom>
          <a:solidFill>
            <a:srgbClr val="D67A61"/>
          </a:solidFill>
          <a:ln w="12700">
            <a:solidFill>
              <a:srgbClr val="D67A6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26280" y="401421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041"/>
                </a:solidFill>
              </a:rPr>
              <a:t>Norske aksjer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26280" y="41696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58C"/>
                </a:solidFill>
              </a:rPr>
              <a:t>Hjemmemarkedsalpha og NOK-eksponering</a:t>
            </a:r>
            <a:endParaRPr lang="en-US" sz="920" dirty="0"/>
          </a:p>
        </p:txBody>
      </p:sp>
      <p:sp>
        <p:nvSpPr>
          <p:cNvPr id="24" name="Text 20"/>
          <p:cNvSpPr/>
          <p:nvPr/>
        </p:nvSpPr>
        <p:spPr>
          <a:xfrm>
            <a:off x="5760720" y="407822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2A47"/>
                </a:solidFill>
              </a:rPr>
              <a:t>20%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675120" y="1828800"/>
            <a:ext cx="45720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903720" y="204825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Produktmiks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903720" y="234086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Produkt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281160" y="23408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Vekt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012680" y="234086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Rolle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903720" y="2834640"/>
            <a:ext cx="3657600" cy="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903720" y="263347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Pensum Global Core Active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308592" y="26334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35%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9893808" y="259689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912096" y="2638044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Kjerne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6903720" y="3246120"/>
            <a:ext cx="3657600" cy="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903720" y="304495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Pensum Global Høyrente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9308592" y="304495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25%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9893808" y="300837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912096" y="3049524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Kontantstrøm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903720" y="3657600"/>
            <a:ext cx="3657600" cy="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03720" y="34564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Pensum Norge A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9308592" y="34564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20%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9893808" y="341985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67A61"/>
          </a:solidFill>
          <a:ln w="12700">
            <a:solidFill>
              <a:srgbClr val="D67A6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912096" y="3461004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Hjemmemarked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6903720" y="4069080"/>
            <a:ext cx="3657600" cy="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903720" y="38679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Pensum Global Edge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9308592" y="386791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20%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9893808" y="383133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15385B"/>
          </a:solidFill>
          <a:ln w="12700">
            <a:solidFill>
              <a:srgbClr val="15385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912096" y="3872484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Satellitt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841248" y="5413248"/>
            <a:ext cx="6309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58C"/>
                </a:solidFill>
              </a:rPr>
              <a:t>Denne sliden bør genereres fra samme datamodell som brukes til historikk, scenario og produktsider.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HISTORIKK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96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</a:rPr>
              <a:t>Historisk utvikling og risiko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8C"/>
                </a:solidFill>
              </a:rPr>
              <a:t>Denne sliden må gi kunden to ting samtidig: avkastningshistorikk og en ærlig forståelse av nedside og robusthet.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41248" y="1828800"/>
          <a:ext cx="65836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7726680" y="1847088"/>
            <a:ext cx="1097280" cy="868680"/>
          </a:xfrm>
          <a:prstGeom prst="roundRect">
            <a:avLst>
              <a:gd name="adj" fmla="val 5263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891272" y="197510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1 år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891272" y="215798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10,5%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942832" y="1847088"/>
            <a:ext cx="1097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107424" y="197510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3 år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107424" y="215798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13,2%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0158984" y="1847088"/>
            <a:ext cx="1097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323576" y="197510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5 år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0323576" y="215798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10,0%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726680" y="2880360"/>
            <a:ext cx="1097280" cy="868680"/>
          </a:xfrm>
          <a:prstGeom prst="roundRect">
            <a:avLst>
              <a:gd name="adj" fmla="val 5263"/>
            </a:avLst>
          </a:prstGeom>
          <a:solidFill>
            <a:srgbClr val="F2FA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891272" y="300837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Vol. 3 år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891272" y="319125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C7A"/>
                </a:solidFill>
              </a:rPr>
              <a:t>4,5%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942832" y="2880360"/>
            <a:ext cx="1097280" cy="868680"/>
          </a:xfrm>
          <a:prstGeom prst="roundRect">
            <a:avLst>
              <a:gd name="adj" fmla="val 5263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107424" y="300837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Maks DD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107424" y="319125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-8,6%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10158984" y="2880360"/>
            <a:ext cx="1097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10323576" y="300837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Siste verdi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0323576" y="319125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NOK 41,5m</a:t>
            </a:r>
            <a:endParaRPr lang="en-US" sz="18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635240" y="3977640"/>
          <a:ext cx="28346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/>
          <p:nvPr/>
        </p:nvSpPr>
        <p:spPr>
          <a:xfrm>
            <a:off x="8549640" y="38404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58C"/>
                </a:solidFill>
              </a:rPr>
              <a:t>Kalenderår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SCENARIO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96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</a:rPr>
              <a:t>Scenarioanalyse og verdiutvikling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8C"/>
                </a:solidFill>
              </a:rPr>
              <a:t>Scenarier skal presenteres som spenn og beslutningsstøtte - ikke som ett lovet tall.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1248" y="1828800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195681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Lavt scenario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2139696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6,5%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254203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NOK 46,9m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78608" y="1828800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743200" y="195681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Basisscenario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0" y="2139696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9,7%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743200" y="254203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NOK 63,0m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15968" y="1828800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80560" y="195681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Høyt scenario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80560" y="2139696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12,5%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480560" y="254203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NOK 81,2m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41248" y="2971800"/>
          <a:ext cx="64008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7635240" y="1828800"/>
            <a:ext cx="361188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863840" y="20482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7"/>
                </a:solidFill>
              </a:rPr>
              <a:t>Hvordan denne sliden skal brukes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882128" y="2487168"/>
            <a:ext cx="2834640" cy="1417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43041"/>
                </a:solidFill>
              </a:rPr>
              <a:t>Rådgiver peker på spenn og sannsynlighetsrom, ikke på ett målpunkt.</a:t>
            </a:r>
            <a:pPr indent="0" marL="0">
              <a:buNone/>
            </a:pPr>
            <a:r>
              <a:rPr lang="en-US" sz="1200" dirty="0">
                <a:solidFill>
                  <a:srgbClr val="243041"/>
                </a:solidFill>
              </a:rPr>
              <a:t>
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43041"/>
                </a:solidFill>
              </a:rPr>
              <a:t>Basisbanen brukes som arbeidsantagelse i resten av forslaget.</a:t>
            </a:r>
            <a:pPr indent="0" marL="0">
              <a:buNone/>
            </a:pPr>
            <a:r>
              <a:rPr lang="en-US" sz="1200" dirty="0">
                <a:solidFill>
                  <a:srgbClr val="243041"/>
                </a:solidFill>
              </a:rPr>
              <a:t>
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43041"/>
                </a:solidFill>
              </a:rPr>
              <a:t>Lav og høy bane gjør det enklere å diskutere risiko, tidshorisont og forventninger.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882128" y="41330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58C"/>
                </a:solidFill>
              </a:rPr>
              <a:t>Verdi etter 3 / 5 / 10 år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549640" y="4352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58C"/>
                </a:solidFill>
              </a:rPr>
              <a:t>3 år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9464040" y="4352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58C"/>
                </a:solidFill>
              </a:rPr>
              <a:t>5 år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0378440" y="4352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58C"/>
                </a:solidFill>
              </a:rPr>
              <a:t>10 år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7882128" y="457200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Lav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8549640" y="457200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30,2m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464040" y="457200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34,3m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0378440" y="457200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46,9m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882128" y="4773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A47"/>
                </a:solidFill>
              </a:rPr>
              <a:t>Basis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549640" y="477316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33,0m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9464040" y="477316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39,7m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0378440" y="477316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63,0m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882128" y="497433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Høy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8549640" y="49743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35,6m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9464040" y="49743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45,1m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10378440" y="49743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3041"/>
                </a:solidFill>
              </a:rPr>
              <a:t>NOK 81,2m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KONSTRUKSJON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96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</a:rPr>
              <a:t>Hvorfor denne sammensetningen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8C"/>
                </a:solidFill>
              </a:rPr>
              <a:t>En sterk rådgivningsslide viser hvordan produktene faktisk bidrar til porteføljens avkastning, yield og robusthet.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41248" y="1874520"/>
          <a:ext cx="50292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1005840" y="19202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</a:rPr>
              <a:t>Bidrag til forventet avkastning</a:t>
            </a:r>
            <a:endParaRPr lang="en-US" sz="11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841248" y="3730752"/>
          <a:ext cx="50292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1005840" y="378561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47"/>
                </a:solidFill>
              </a:rPr>
              <a:t>Bidrag til løpende yield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172200" y="1847088"/>
            <a:ext cx="489204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0" y="208483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Tre råd som denne sliden skal levere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19088" y="23957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528816" y="246888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931152" y="24048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Kjerne først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931152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8C"/>
                </a:solidFill>
              </a:rPr>
              <a:t>Global Core Active og Norge A bærer mesteparten av forventet avkastning.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19088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28816" y="338328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931152" y="33192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Yield med mening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31152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8C"/>
                </a:solidFill>
              </a:rPr>
              <a:t>Global Høyrente tilfører nesten halvparten av porteføljens løpende yield alene.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19088" y="4224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7A61"/>
          </a:solidFill>
          <a:ln w="12700">
            <a:solidFill>
              <a:srgbClr val="D67A6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28816" y="429768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931152" y="42336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Aktiv satelitt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931152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8C"/>
                </a:solidFill>
              </a:rPr>
              <a:t>Global Edge brukes som meravkastningslag - ikke som erstatning for kjernen.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0" y="5010912"/>
            <a:ext cx="1417320" cy="804672"/>
          </a:xfrm>
          <a:prstGeom prst="roundRect">
            <a:avLst>
              <a:gd name="adj" fmla="val 5682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565392" y="5138928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Porteføljens forventet retur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565392" y="53218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9,7%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7973568" y="5010912"/>
            <a:ext cx="1417320" cy="804672"/>
          </a:xfrm>
          <a:prstGeom prst="roundRect">
            <a:avLst>
              <a:gd name="adj" fmla="val 5682"/>
            </a:avLst>
          </a:prstGeom>
          <a:solidFill>
            <a:srgbClr val="F2FA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138160" y="5138928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Løpende yield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138160" y="53218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C7A"/>
                </a:solidFill>
              </a:rPr>
              <a:t>3,2%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9546336" y="5010912"/>
            <a:ext cx="1417320" cy="804672"/>
          </a:xfrm>
          <a:prstGeom prst="roundRect">
            <a:avLst>
              <a:gd name="adj" fmla="val 5682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9710928" y="5138928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Maks DD historisk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9710928" y="53218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-8,6%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BYGGESTEINER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96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</a:rPr>
              <a:t>Samlet produktoversikt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8C"/>
                </a:solidFill>
              </a:rPr>
              <a:t>En premium presentasjon trenger en konsolidert oversikt før produktene brytes ut i egne detaljer.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1248" y="1874520"/>
            <a:ext cx="2121408" cy="3291840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20756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11683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Kjerne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05840" y="2404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</a:rPr>
              <a:t>Pensum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</a:rPr>
              <a:t>Global Core Active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30449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1"/>
                </a:solidFill>
              </a:rPr>
              <a:t>Bred global eksponering og hovedmotor i aksjedelen.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70432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Vekt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70432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35%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627632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792224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Retur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792224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10,0%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249424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414016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Yield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414016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1,8%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639312" y="1874520"/>
            <a:ext cx="2121408" cy="3291840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803904" y="20756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22192" y="211683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Kontantstrøm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803904" y="2404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</a:rPr>
              <a:t>Pensum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</a:rPr>
              <a:t>Global Høyrente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803904" y="30449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1"/>
                </a:solidFill>
              </a:rPr>
              <a:t>Løpende renteavkastning og stabiliserende kreditteksponering.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803904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968496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Vekt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968496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25%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4425696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590288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Retur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90288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7,5%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5047488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212080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Yield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212080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7,0%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437376" y="1874520"/>
            <a:ext cx="2121408" cy="3291840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601968" y="20756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67A61"/>
          </a:solidFill>
          <a:ln w="12700">
            <a:solidFill>
              <a:srgbClr val="D67A6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20256" y="211683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Hjemmemarked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601968" y="2404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</a:rPr>
              <a:t>Pensum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</a:rPr>
              <a:t>Norge A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601968" y="30449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1"/>
                </a:solidFill>
              </a:rPr>
              <a:t>Aktiv norsk aksjeeksponering og lokal forankring.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601968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766560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Vekt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766560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20%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7223760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7388352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Retur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88352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11,0%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7845552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8010144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Yield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010144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3,0%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9235440" y="1874520"/>
            <a:ext cx="2121408" cy="3291840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9400032" y="20756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15385B"/>
          </a:solidFill>
          <a:ln w="12700">
            <a:solidFill>
              <a:srgbClr val="15385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418320" y="211683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Satellitt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9400032" y="2404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</a:rPr>
              <a:t>Pensum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</a:rPr>
              <a:t>Global Edge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400032" y="30449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1"/>
                </a:solidFill>
              </a:rPr>
              <a:t>Spisset global satellitt med høyere aktiv andel.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9400032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9564624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Vekt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9564624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20%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10021824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10186416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Retur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10186416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10,5%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10643616" y="3749040"/>
            <a:ext cx="530352" cy="749808"/>
          </a:xfrm>
          <a:prstGeom prst="roundRect">
            <a:avLst>
              <a:gd name="adj" fmla="val 8621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10808208" y="387705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Yield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10808208" y="40599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1,2%</a:t>
            </a:r>
            <a:endParaRPr lang="en-US" sz="1800" dirty="0"/>
          </a:p>
        </p:txBody>
      </p:sp>
      <p:sp>
        <p:nvSpPr>
          <p:cNvPr id="65" name="Text 62"/>
          <p:cNvSpPr/>
          <p:nvPr/>
        </p:nvSpPr>
        <p:spPr>
          <a:xfrm>
            <a:off x="868680" y="5413248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58C"/>
                </a:solidFill>
              </a:rPr>
              <a:t>Produktkortene bør bygges fra én felles komponent og bruke samme datamodell som produktslidene.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PRODUKTDETALJ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96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</a:rPr>
              <a:t>Pensum Global Core Active - kjernebyggesteinen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8C"/>
                </a:solidFill>
              </a:rPr>
              <a:t>Eksempel på hvordan en world-class produktslide kan kombinere rolle, nøkkeltall og faktiske eksponeringer.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1248" y="1828800"/>
            <a:ext cx="2880360" cy="361188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2416" y="2048256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089404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Kjerne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42416" y="25054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Pensum Global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Core Active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42416" y="32552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041"/>
                </a:solidFill>
              </a:rPr>
              <a:t>Bred global aksjeeksponering gjennom utvalgte aktive forvaltere med god spredning på regioner, sektorer og stil.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1042416" y="3913632"/>
            <a:ext cx="658368" cy="7772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207008" y="40416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Vekt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207008" y="42245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35%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783080" y="3913632"/>
            <a:ext cx="658368" cy="777240"/>
          </a:xfrm>
          <a:prstGeom prst="roundRect">
            <a:avLst>
              <a:gd name="adj" fmla="val 6944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47672" y="40416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Retur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947672" y="42245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10,0%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523744" y="3913632"/>
            <a:ext cx="658368" cy="777240"/>
          </a:xfrm>
          <a:prstGeom prst="roundRect">
            <a:avLst>
              <a:gd name="adj" fmla="val 6944"/>
            </a:avLst>
          </a:prstGeom>
          <a:solidFill>
            <a:srgbClr val="FBF6F3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688336" y="40416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Yield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88336" y="42245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7A61"/>
                </a:solidFill>
              </a:rPr>
              <a:t>1,8%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42416" y="4846320"/>
            <a:ext cx="20574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127000" indent="-127000">
              <a:buSzPct val="100000"/>
              <a:buChar char="•"/>
            </a:pPr>
            <a:r>
              <a:rPr lang="en-US" sz="970" dirty="0">
                <a:solidFill>
                  <a:srgbClr val="243041"/>
                </a:solidFill>
              </a:rPr>
              <a:t>Skal være den enkleste produktsliden for kunden å forstå.</a:t>
            </a:r>
            <a:pPr indent="0" marL="0">
              <a:buNone/>
            </a:pPr>
            <a:r>
              <a:rPr lang="en-US" sz="970" dirty="0">
                <a:solidFill>
                  <a:srgbClr val="243041"/>
                </a:solidFill>
              </a:rPr>
              <a:t>
</a:t>
            </a:r>
            <a:endParaRPr lang="en-US" sz="970" dirty="0"/>
          </a:p>
          <a:p>
            <a:pPr marL="127000" indent="-127000">
              <a:buSzPct val="100000"/>
              <a:buChar char="•"/>
            </a:pPr>
            <a:r>
              <a:rPr lang="en-US" sz="970" dirty="0">
                <a:solidFill>
                  <a:srgbClr val="243041"/>
                </a:solidFill>
              </a:rPr>
              <a:t>Fungerer som hovedmotor i aksjedelen.</a:t>
            </a:r>
            <a:pPr indent="0" marL="0">
              <a:buNone/>
            </a:pPr>
            <a:r>
              <a:rPr lang="en-US" sz="970" dirty="0">
                <a:solidFill>
                  <a:srgbClr val="243041"/>
                </a:solidFill>
              </a:rPr>
              <a:t>
</a:t>
            </a:r>
            <a:endParaRPr lang="en-US" sz="970" dirty="0"/>
          </a:p>
          <a:p>
            <a:pPr marL="127000" indent="-127000">
              <a:buSzPct val="100000"/>
              <a:buChar char="•"/>
            </a:pPr>
            <a:r>
              <a:rPr lang="en-US" sz="970" dirty="0">
                <a:solidFill>
                  <a:srgbClr val="243041"/>
                </a:solidFill>
              </a:rPr>
              <a:t>Bærer mesteparten av porteføljens globale spredning.</a:t>
            </a:r>
            <a:endParaRPr lang="en-US" sz="97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069080" y="1901952"/>
          <a:ext cx="32461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4315968" y="197510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7"/>
                </a:solidFill>
              </a:rPr>
              <a:t>Regioner</a:t>
            </a:r>
            <a:endParaRPr lang="en-US" sz="11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7726680" y="1901952"/>
          <a:ext cx="32461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 22"/>
          <p:cNvSpPr/>
          <p:nvPr/>
        </p:nvSpPr>
        <p:spPr>
          <a:xfrm>
            <a:off x="7973568" y="197510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7"/>
                </a:solidFill>
              </a:rPr>
              <a:t>Sektorer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069080" y="3794760"/>
            <a:ext cx="69037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315968" y="40233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Stil og investeringscase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315968" y="4370832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334256" y="44119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Large Core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550408" y="4370832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568696" y="44119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Mid Cap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784848" y="4370832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5385B"/>
          </a:solidFill>
          <a:ln w="12700">
            <a:solidFill>
              <a:srgbClr val="15385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803136" y="44119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Large Growth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8019288" y="4370832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D67A61"/>
          </a:solidFill>
          <a:ln w="12700">
            <a:solidFill>
              <a:srgbClr val="D67A61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037576" y="44119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Large Value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9253728" y="4370832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8AA4BD"/>
          </a:solidFill>
          <a:ln w="12700">
            <a:solidFill>
              <a:srgbClr val="8AA4B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9272016" y="44119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Small Cap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4315968" y="48280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1"/>
                </a:solidFill>
              </a:rPr>
              <a:t>Bruk denne sliden til å forklare hvorfor dette er porteføljens grunnmur: bred global eksponering, aktiv forvalterseleksjon og tydelig forklarbarhet.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PRODUKTDETALJ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7782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</a:rPr>
              <a:t>Pensum Global Høyrente - rente- og kontantstrømmotor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64758C"/>
                </a:solidFill>
              </a:rPr>
              <a:t>Eksempel på en produktside der nytteverdien ligger i å forklare både yield, stabiliserende rolle og underliggende byggesteiner.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841248" y="1828800"/>
            <a:ext cx="2926080" cy="36118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2416" y="2048256"/>
            <a:ext cx="896112" cy="256032"/>
          </a:xfrm>
          <a:prstGeom prst="roundRect">
            <a:avLst>
              <a:gd name="adj" fmla="val 28571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08940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Kontantstrøm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42416" y="250545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Pensum Global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Høyrente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42416" y="3255264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041"/>
                </a:solidFill>
              </a:rPr>
              <a:t>Seleksjon av globale high yield- og kredittfond med mål om høy løpende avkastning og lavere volatilitet enn aksjer.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1042416" y="3968496"/>
            <a:ext cx="658368" cy="7772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207008" y="409651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Vekt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207008" y="4279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</a:rPr>
              <a:t>25%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783080" y="3968496"/>
            <a:ext cx="658368" cy="777240"/>
          </a:xfrm>
          <a:prstGeom prst="roundRect">
            <a:avLst>
              <a:gd name="adj" fmla="val 6944"/>
            </a:avLst>
          </a:prstGeom>
          <a:solidFill>
            <a:srgbClr val="F5FB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47672" y="409651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Retur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947672" y="4279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A63"/>
                </a:solidFill>
              </a:rPr>
              <a:t>7,5%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523744" y="3968496"/>
            <a:ext cx="658368" cy="777240"/>
          </a:xfrm>
          <a:prstGeom prst="roundRect">
            <a:avLst>
              <a:gd name="adj" fmla="val 6944"/>
            </a:avLst>
          </a:prstGeom>
          <a:solidFill>
            <a:srgbClr val="F2FAF8"/>
          </a:solidFill>
          <a:ln w="12700">
            <a:solidFill>
              <a:srgbClr val="D6E1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688336" y="409651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58C"/>
                </a:solidFill>
              </a:rPr>
              <a:t>Yield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88336" y="4279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C7A"/>
                </a:solidFill>
              </a:rPr>
              <a:t>7,0%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42416" y="4773168"/>
            <a:ext cx="20574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127000" indent="-127000">
              <a:buSzPct val="100000"/>
              <a:buChar char="•"/>
            </a:pPr>
            <a:r>
              <a:rPr lang="en-US" sz="910" dirty="0">
                <a:solidFill>
                  <a:srgbClr val="243041"/>
                </a:solidFill>
              </a:rPr>
              <a:t>Skal bære en stor del av porteføljens løpende yield.</a:t>
            </a:r>
            <a:pPr indent="0" marL="0">
              <a:buNone/>
            </a:pPr>
            <a:r>
              <a:rPr lang="en-US" sz="910" dirty="0">
                <a:solidFill>
                  <a:srgbClr val="243041"/>
                </a:solidFill>
              </a:rPr>
              <a:t>
</a:t>
            </a:r>
            <a:endParaRPr lang="en-US" sz="910" dirty="0"/>
          </a:p>
          <a:p>
            <a:pPr marL="127000" indent="-127000">
              <a:buSzPct val="100000"/>
              <a:buChar char="•"/>
            </a:pPr>
            <a:r>
              <a:rPr lang="en-US" sz="910" dirty="0">
                <a:solidFill>
                  <a:srgbClr val="243041"/>
                </a:solidFill>
              </a:rPr>
              <a:t>Brukes som støtdemper mot aksjesvingninger.</a:t>
            </a:r>
            <a:pPr indent="0" marL="0">
              <a:buNone/>
            </a:pPr>
            <a:r>
              <a:rPr lang="en-US" sz="910" dirty="0">
                <a:solidFill>
                  <a:srgbClr val="243041"/>
                </a:solidFill>
              </a:rPr>
              <a:t>
</a:t>
            </a:r>
            <a:endParaRPr lang="en-US" sz="910" dirty="0"/>
          </a:p>
          <a:p>
            <a:pPr marL="127000" indent="-127000">
              <a:buSzPct val="100000"/>
              <a:buChar char="•"/>
            </a:pPr>
            <a:r>
              <a:rPr lang="en-US" sz="910" dirty="0">
                <a:solidFill>
                  <a:srgbClr val="243041"/>
                </a:solidFill>
              </a:rPr>
              <a:t>Forklares med underliggende fond og kredittlogikk.</a:t>
            </a:r>
            <a:endParaRPr lang="en-US" sz="91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069080" y="1874520"/>
          <a:ext cx="4251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4315968" y="19568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Viktigste underliggende fond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549640" y="1874520"/>
            <a:ext cx="2423160" cy="274320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759952" y="21031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Hvordan sliden bør brukes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759952" y="2414016"/>
            <a:ext cx="1783080" cy="1645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43041"/>
                </a:solidFill>
              </a:rPr>
              <a:t>Forklar at yield kommer fra kredittpremie - ikke magi.</a:t>
            </a:r>
            <a:pPr indent="0" marL="0">
              <a:buNone/>
            </a:pPr>
            <a:r>
              <a:rPr lang="en-US" sz="1100" dirty="0">
                <a:solidFill>
                  <a:srgbClr val="243041"/>
                </a:solidFill>
              </a:rPr>
              <a:t>
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43041"/>
                </a:solidFill>
              </a:rPr>
              <a:t>Vis hvorfor fondsmiksen gir spredning på utstedere og forvaltere.</a:t>
            </a:r>
            <a:pPr indent="0" marL="0">
              <a:buNone/>
            </a:pPr>
            <a:r>
              <a:rPr lang="en-US" sz="1100" dirty="0">
                <a:solidFill>
                  <a:srgbClr val="243041"/>
                </a:solidFill>
              </a:rPr>
              <a:t>
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43041"/>
                </a:solidFill>
              </a:rPr>
              <a:t>Sett alltid yield opp mot likviditet og kredittrisiko.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759952" y="41330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58C"/>
                </a:solidFill>
              </a:rPr>
              <a:t>Benchmark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8759952" y="4315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1"/>
                </a:solidFill>
              </a:rPr>
              <a:t>Global High Yield NOK hedged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ensum_logo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097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1828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58C"/>
                </a:solidFill>
              </a:rPr>
              <a:t>Illustrativ modell basert på kode- og datauttrekk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576072" y="6473952"/>
            <a:ext cx="11018520" cy="0"/>
          </a:xfrm>
          <a:prstGeom prst="line">
            <a:avLst/>
          </a:prstGeom>
          <a:noFill/>
          <a:ln w="12700">
            <a:solidFill>
              <a:srgbClr val="D6E1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58C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658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0B5"/>
                </a:solidFill>
              </a:rPr>
              <a:t>OPPFØLGING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896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</a:rPr>
              <a:t>Implementering, rapportering og neste steg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12984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8C"/>
                </a:solidFill>
              </a:rPr>
              <a:t>Et world-class investeringsforslag bør avslutte med hvordan kundeforholdet faktisk skal oppleves - ikke bare med en disclaimer.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1248" y="1828800"/>
            <a:ext cx="3749040" cy="3657600"/>
          </a:xfrm>
          <a:prstGeom prst="roundRect">
            <a:avLst>
              <a:gd name="adj" fmla="val 1250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10" name="Image 1" descr="/mnt/data/pensum_logo_dark_as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08" y="199339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6517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E6F2"/>
                </a:solidFill>
              </a:rPr>
              <a:t>Hva kunden bør få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60" y="2926080"/>
            <a:ext cx="2834640" cy="1737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Lik struktur i digital visning, PDF og presentasjon.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
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Kvartalsvis oppfølging med avkastning, risiko og rebalansering.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
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En tydelig rådgivningshistorie som kan gjenbrukes i møte, utskrift og e-post.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051560" y="489204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69848" y="4933188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Digital rapportering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395728" y="489204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2F7C7A"/>
          </a:solidFill>
          <a:ln w="12700">
            <a:solidFill>
              <a:srgbClr val="2F7C7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14016" y="4933188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Kvartalsmøter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465576" y="489204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D67A61"/>
          </a:solidFill>
          <a:ln w="12700">
            <a:solidFill>
              <a:srgbClr val="D67A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83864" y="4933188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Samme språk overalt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892040" y="1828800"/>
            <a:ext cx="617220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6E1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38928" y="20665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</a:rPr>
              <a:t>Anbefalt roadmap for verktøyet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166360" y="24871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76088" y="256032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650992" y="249631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Lås designsystemet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726680" y="2496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C"/>
                </a:solidFill>
              </a:rPr>
              <a:t>Bruk denne presentasjonen som basis for komponentbibliotek og slidehierarki.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16636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276088" y="327355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650992" y="320954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Koble på live datamodell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726680" y="32095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C"/>
                </a:solidFill>
              </a:rPr>
              <a:t>Bygg alle grafer, KPI-kort og produktblokker direkte fra proposal model / datafeed.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166360" y="39136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276088" y="398678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650992" y="392277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QA eksporten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726680" y="39227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C"/>
                </a:solidFill>
              </a:rPr>
              <a:t>Ikke tillat tomme datapunkter, overflyt eller slides uten reelt informasjonsgrunnlag.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166360" y="46268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90B5"/>
          </a:solidFill>
          <a:ln w="12700">
            <a:solidFill>
              <a:srgbClr val="5B90B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276088" y="470001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650992" y="46360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41"/>
                </a:solidFill>
              </a:rPr>
              <a:t>Deploy én visuell sannhet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726680" y="46360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C"/>
                </a:solidFill>
              </a:rPr>
              <a:t>Samme logikk og uttrykk i app, PDF og PowerPoint-utskrift.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5166360" y="523036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58C"/>
                </a:solidFill>
              </a:rPr>
              <a:t>Noen tidligere enkeltfiler hadde utløpt, men zip-filen inneholdt mal, profil og datasett som gjorde det mulig å bygge denne versjonen.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Pensum verdensklasse investeringsforslag demo</dc:title>
  <dc:subject>Illustrativ 10-slides presentasjon i Pensum-drakt</dc:subject>
  <dc:creator>OpenAI</dc:creator>
  <cp:lastModifiedBy>OpenAI</cp:lastModifiedBy>
  <cp:revision>1</cp:revision>
  <dcterms:created xsi:type="dcterms:W3CDTF">2026-03-11T16:08:47Z</dcterms:created>
  <dcterms:modified xsi:type="dcterms:W3CDTF">2026-03-11T16:08:47Z</dcterms:modified>
</cp:coreProperties>
</file>